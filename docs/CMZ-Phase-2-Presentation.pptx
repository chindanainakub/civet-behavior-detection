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all three tasks of the brief on the same 22 clips, and everything you see comes from one pipeline. The scores are only half the story: the other half is what each score covers. I will take the tasks in order, then show the single command that produces all three at once.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the whole brief and the whole delivery side by side. Task 1 is the strongest result, Task 2 works but does not survive a new recording day, and Task 3 is the honest weak one. The footnote matters: Climbing was dropped with the instructor's agreement, and Task 3 measures a silhouette rather than keypoints.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1 rests on 22 clips cut into 201 windows, of which 138 carry one verified label. The flow is deliberately boring: clips, verified intervals, five-second windows, then a split by whole clip. The test set is the eight-clip gold set, locked on the 20th before anyone read a test score.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0.949 is fifteen windows, so treat it as a headline rather than a property of the animal. There is one error: an Eating window predicted Resting at 0.847. Read the bottom line before you read the number, because camera and class travel together and that makes this an upper bound.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tried four ways to get a box without a person drawing one, and three failed in instructive ways. A COCO model does not know what a civet is, differencing sees the plant, and Grounding DINO puts boxes on the floor. What worked is the fact that these cameras never move, so every clip carries its own background.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1061 frames the background model proposes 470 boxes, and persistence cuts that to 408. We audited 116 by eye and 113 were on the animal, which is what made training possible. Round 1 reached 0.537; round 2 looks better on its own split, but the comparable number is 0.499 on the untouched seed labels. No person drew a box at any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names are the brief's four names, but the measurement is silhouette geometry. Locomotion separates by an order of magnitude in speed, which is why it scores 1.000 on test. Resting is the failure: a still animal becomes the background, so most training windows have no silhouette and Resting scores zero.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prints all three tasks for the same five-second windows, so nothing here is stitched together afterwards. Task 1 gives the behavior, Task 2 gives the box and the crop classifier, Task 3 gives the four features. On this clip it found the animal in all ten windows, six by the detector and four by the per-clip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limits we would rather say ourselves. The test set is small and the camera tracks the class, the detector does not survive a new recording day, and Task 3 is a proxy. Detection has no human ground truth, so its quality is a counted audit, not a mAP against truth.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version needs footage from recording sessions that are absent from training, because that is the only way to turn an upper bound into an estimate. Then more support per class and an abstain threshold chosen off the test set. Climbing and pose come back only if verified footage exists. What we have now is a baseline that is reproducible and honest about its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7620000" cy="133350"/>
          </a:xfrm>
          <a:prstGeom prst="rect">
            <a:avLst/>
          </a:prstGeom>
          <a:noFill/>
        </p:spPr>
        <p:txBody>
          <a:bodyPr wrap="square" anchor="t" lIns="0" rIns="0" tIns="0" bIns="0">
            <a:noAutofit/>
          </a:bodyPr>
          <a:lstStyle/>
          <a:p>
            <a:pPr algn="l">
              <a:lnSpc>
                <a:spcPct val="120000"/>
              </a:lnSpc>
            </a:pPr>
            <a:r>
              <a:rPr sz="675" b="0" i="0" spc="140">
                <a:solidFill>
                  <a:srgbClr val="284236"/>
                </a:solidFill>
                <a:latin typeface="Arial"/>
              </a:rPr>
              <a:t>CMZ PROJECT · PHASE 2 · OCTOBER 2026</a:t>
            </a:r>
          </a:p>
        </p:txBody>
      </p:sp>
      <p:sp>
        <p:nvSpPr>
          <p:cNvPr id="5" name="TextBox 4"/>
          <p:cNvSpPr txBox="1"/>
          <p:nvPr/>
        </p:nvSpPr>
        <p:spPr>
          <a:xfrm>
            <a:off x="609600" y="1219200"/>
            <a:ext cx="5810250" cy="1905000"/>
          </a:xfrm>
          <a:prstGeom prst="rect">
            <a:avLst/>
          </a:prstGeom>
          <a:noFill/>
        </p:spPr>
        <p:txBody>
          <a:bodyPr wrap="square" anchor="t" lIns="0" rIns="0" tIns="0" bIns="0">
            <a:noAutofit/>
          </a:bodyPr>
          <a:lstStyle/>
          <a:p>
            <a:pPr algn="l">
              <a:lnSpc>
                <a:spcPct val="106000"/>
              </a:lnSpc>
            </a:pPr>
            <a:r>
              <a:rPr sz="3450" b="0" i="0">
                <a:solidFill>
                  <a:srgbClr val="284236"/>
                </a:solidFill>
                <a:latin typeface="Georgia"/>
              </a:rPr>
              <a:t>Three Tasks,</a:t>
            </a:r>
          </a:p>
          <a:p>
            <a:pPr algn="l">
              <a:lnSpc>
                <a:spcPct val="106000"/>
              </a:lnSpc>
            </a:pPr>
            <a:r>
              <a:rPr sz="3450" b="0" i="0">
                <a:solidFill>
                  <a:srgbClr val="284236"/>
                </a:solidFill>
                <a:latin typeface="Georgia"/>
              </a:rPr>
              <a:t>One Animal,</a:t>
            </a:r>
          </a:p>
          <a:p>
            <a:pPr algn="l">
              <a:lnSpc>
                <a:spcPct val="106000"/>
              </a:lnSpc>
            </a:pPr>
            <a:r>
              <a:rPr sz="3450" b="0" i="0">
                <a:solidFill>
                  <a:srgbClr val="284236"/>
                </a:solidFill>
                <a:latin typeface="Georgia"/>
              </a:rPr>
              <a:t>One Pipeline</a:t>
            </a:r>
          </a:p>
        </p:txBody>
      </p:sp>
      <p:sp>
        <p:nvSpPr>
          <p:cNvPr id="6" name="Rectangle 5"/>
          <p:cNvSpPr/>
          <p:nvPr/>
        </p:nvSpPr>
        <p:spPr>
          <a:xfrm>
            <a:off x="609600" y="3143250"/>
            <a:ext cx="914400" cy="19050"/>
          </a:xfrm>
          <a:prstGeom prst="rect">
            <a:avLst/>
          </a:prstGeom>
          <a:solidFill>
            <a:srgbClr val="C45A3B"/>
          </a:solidFill>
          <a:ln>
            <a:noFill/>
          </a:ln>
          <a:effectLst/>
        </p:spPr>
        <p:txBody>
          <a:bodyPr rtlCol="0" anchor="ctr"/>
          <a:lstStyle/>
          <a:p>
            <a:pPr algn="ctr"/>
          </a:p>
        </p:txBody>
      </p:sp>
      <p:sp>
        <p:nvSpPr>
          <p:cNvPr id="7" name="TextBox 6"/>
          <p:cNvSpPr txBox="1"/>
          <p:nvPr/>
        </p:nvSpPr>
        <p:spPr>
          <a:xfrm>
            <a:off x="609600" y="3352800"/>
            <a:ext cx="5334000" cy="762000"/>
          </a:xfrm>
          <a:prstGeom prst="rect">
            <a:avLst/>
          </a:prstGeom>
          <a:noFill/>
        </p:spPr>
        <p:txBody>
          <a:bodyPr wrap="square" anchor="t" lIns="0" rIns="0" tIns="0" bIns="0">
            <a:noAutofit/>
          </a:bodyPr>
          <a:lstStyle/>
          <a:p>
            <a:pPr algn="l">
              <a:lnSpc>
                <a:spcPct val="135000"/>
              </a:lnSpc>
            </a:pPr>
            <a:r>
              <a:rPr sz="1200" b="0" i="0">
                <a:solidFill>
                  <a:srgbClr val="22241F"/>
                </a:solidFill>
                <a:latin typeface="Arial"/>
              </a:rPr>
              <a:t>Short-clip behavior classification, detection and feature analysis for a zoo civet</a:t>
            </a:r>
          </a:p>
        </p:txBody>
      </p:sp>
      <p:sp>
        <p:nvSpPr>
          <p:cNvPr id="8" name="TextBox 7"/>
          <p:cNvSpPr txBox="1"/>
          <p:nvPr/>
        </p:nvSpPr>
        <p:spPr>
          <a:xfrm>
            <a:off x="609600" y="6191250"/>
            <a:ext cx="3810000" cy="152400"/>
          </a:xfrm>
          <a:prstGeom prst="rect">
            <a:avLst/>
          </a:prstGeom>
          <a:noFill/>
        </p:spPr>
        <p:txBody>
          <a:bodyPr wrap="square" anchor="t" lIns="0" rIns="0" tIns="0" bIns="0">
            <a:noAutofit/>
          </a:bodyPr>
          <a:lstStyle/>
          <a:p>
            <a:pPr algn="l">
              <a:lnSpc>
                <a:spcPct val="120000"/>
              </a:lnSpc>
            </a:pPr>
            <a:r>
              <a:rPr sz="750" b="0" i="0" spc="120">
                <a:solidFill>
                  <a:srgbClr val="64675E"/>
                </a:solidFill>
                <a:latin typeface="Arial"/>
              </a:rPr>
              <a:t>Project team, CMU</a:t>
            </a:r>
          </a:p>
        </p:txBody>
      </p:sp>
      <p:sp>
        <p:nvSpPr>
          <p:cNvPr id="9" name="TextBox 8"/>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01 / 10</a:t>
            </a:r>
          </a:p>
        </p:txBody>
      </p:sp>
      <p:sp>
        <p:nvSpPr>
          <p:cNvPr id="10" name="Rectangle 9"/>
          <p:cNvSpPr/>
          <p:nvPr/>
        </p:nvSpPr>
        <p:spPr>
          <a:xfrm>
            <a:off x="6724650" y="838200"/>
            <a:ext cx="9525" cy="5353050"/>
          </a:xfrm>
          <a:prstGeom prst="rect">
            <a:avLst/>
          </a:prstGeom>
          <a:solidFill>
            <a:srgbClr val="C45A3B"/>
          </a:solidFill>
          <a:ln>
            <a:noFill/>
          </a:ln>
          <a:effectLst/>
        </p:spPr>
        <p:txBody>
          <a:bodyPr rtlCol="0" anchor="ctr"/>
          <a:lstStyle/>
          <a:p>
            <a:pPr algn="ctr"/>
          </a:p>
        </p:txBody>
      </p:sp>
      <p:pic>
        <p:nvPicPr>
          <p:cNvPr id="11" name="Picture 10" descr="cover.jpg"/>
          <p:cNvPicPr>
            <a:picLocks noChangeAspect="1"/>
          </p:cNvPicPr>
          <p:nvPr/>
        </p:nvPicPr>
        <p:blipFill>
          <a:blip r:embed="rId2"/>
          <a:stretch>
            <a:fillRect/>
          </a:stretch>
        </p:blipFill>
        <p:spPr>
          <a:xfrm>
            <a:off x="7124700" y="838200"/>
            <a:ext cx="4457700" cy="5349240"/>
          </a:xfrm>
          <a:prstGeom prst="rect">
            <a:avLst/>
          </a:prstGeom>
        </p:spPr>
      </p:pic>
      <p:sp>
        <p:nvSpPr>
          <p:cNvPr id="12" name="TextBox 11"/>
          <p:cNvSpPr txBox="1"/>
          <p:nvPr/>
        </p:nvSpPr>
        <p:spPr>
          <a:xfrm>
            <a:off x="7124700" y="6286500"/>
            <a:ext cx="4457700" cy="133350"/>
          </a:xfrm>
          <a:prstGeom prst="rect">
            <a:avLst/>
          </a:prstGeom>
          <a:noFill/>
        </p:spPr>
        <p:txBody>
          <a:bodyPr wrap="square" anchor="t" lIns="0" rIns="0" tIns="0" bIns="0">
            <a:noAutofit/>
          </a:bodyPr>
          <a:lstStyle/>
          <a:p>
            <a:pPr algn="l">
              <a:lnSpc>
                <a:spcPct val="120000"/>
              </a:lnSpc>
            </a:pPr>
            <a:r>
              <a:rPr sz="600" b="0" i="0" spc="120">
                <a:solidFill>
                  <a:srgbClr val="64675E"/>
                </a:solidFill>
                <a:latin typeface="Arial"/>
              </a:rPr>
              <a:t>CAMERA 02 · 19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02 / SCOPE</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What the brief asked, what we delivered</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02 / 10</a:t>
            </a:r>
          </a:p>
        </p:txBody>
      </p:sp>
      <p:graphicFrame>
        <p:nvGraphicFramePr>
          <p:cNvPr id="8" name="Table 7"/>
          <p:cNvGraphicFramePr>
            <a:graphicFrameLocks noGrp="1"/>
          </p:cNvGraphicFramePr>
          <p:nvPr/>
        </p:nvGraphicFramePr>
        <p:xfrm>
          <a:off x="609600" y="1428750"/>
          <a:ext cx="10972800" cy="3562350"/>
        </p:xfrm>
        <a:graphic>
          <a:graphicData uri="http://schemas.openxmlformats.org/drawingml/2006/table">
            <a:tbl>
              <a:tblPr/>
              <a:tblGrid>
                <a:gridCol w="1600200"/>
                <a:gridCol w="3429000"/>
                <a:gridCol w="3028950"/>
                <a:gridCol w="2914650"/>
              </a:tblGrid>
              <a:tr h="304800">
                <a:tc>
                  <a:txBody>
                    <a:bodyPr/>
                    <a:lstStyle/>
                    <a:p>
                      <a:pPr algn="l">
                        <a:lnSpc>
                          <a:spcPct val="110000"/>
                        </a:lnSpc>
                      </a:pPr>
                      <a:r>
                        <a:rPr sz="600" b="0" i="0">
                          <a:solidFill>
                            <a:srgbClr val="64675E"/>
                          </a:solidFill>
                          <a:latin typeface="Arial"/>
                        </a:rPr>
                        <a:t>TASK</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l">
                        <a:lnSpc>
                          <a:spcPct val="110000"/>
                        </a:lnSpc>
                      </a:pPr>
                      <a:r>
                        <a:rPr sz="600" b="0" i="0">
                          <a:solidFill>
                            <a:srgbClr val="64675E"/>
                          </a:solidFill>
                          <a:latin typeface="Arial"/>
                        </a:rPr>
                        <a:t>BRIEF ASKED</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l">
                        <a:lnSpc>
                          <a:spcPct val="110000"/>
                        </a:lnSpc>
                      </a:pPr>
                      <a:r>
                        <a:rPr sz="600" b="0" i="0">
                          <a:solidFill>
                            <a:srgbClr val="64675E"/>
                          </a:solidFill>
                          <a:latin typeface="Arial"/>
                        </a:rPr>
                        <a:t>WHAT WE BUILT</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l">
                        <a:lnSpc>
                          <a:spcPct val="110000"/>
                        </a:lnSpc>
                      </a:pPr>
                      <a:r>
                        <a:rPr sz="600" b="0" i="0">
                          <a:solidFill>
                            <a:srgbClr val="64675E"/>
                          </a:solidFill>
                          <a:latin typeface="Arial"/>
                        </a:rPr>
                        <a:t>MEASURED RESULT</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r>
              <a:tr h="1085850">
                <a:tc>
                  <a:txBody>
                    <a:bodyPr/>
                    <a:lstStyle/>
                    <a:p>
                      <a:pPr algn="l">
                        <a:lnSpc>
                          <a:spcPct val="135000"/>
                        </a:lnSpc>
                      </a:pPr>
                      <a:r>
                        <a:rPr sz="600" b="0" i="0" spc="120">
                          <a:solidFill>
                            <a:srgbClr val="C45A3B"/>
                          </a:solidFill>
                          <a:latin typeface="Arial"/>
                        </a:rPr>
                        <a:t>TASK 1</a:t>
                      </a:r>
                    </a:p>
                    <a:p>
                      <a:pPr algn="l">
                        <a:lnSpc>
                          <a:spcPct val="135000"/>
                        </a:lnSpc>
                      </a:pPr>
                      <a:r>
                        <a:rPr sz="975" b="0" i="0">
                          <a:solidFill>
                            <a:srgbClr val="284236"/>
                          </a:solidFill>
                          <a:latin typeface="Arial"/>
                        </a:rPr>
                        <a:t>Image-based classification</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Walking · Eating · Resting · Climbing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Five-second window CNN, three classes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Macro F1 </a:t>
                      </a:r>
                      <a:r>
                        <a:rPr sz="937" b="1" i="0">
                          <a:solidFill>
                            <a:srgbClr val="C45A3B"/>
                          </a:solidFill>
                          <a:latin typeface="Arial"/>
                        </a:rPr>
                        <a:t>0.949</a:t>
                      </a:r>
                      <a:r>
                        <a:rPr sz="937" b="0" i="0">
                          <a:solidFill>
                            <a:srgbClr val="22241F"/>
                          </a:solidFill>
                          <a:latin typeface="Arial"/>
                        </a:rPr>
                        <a:t> on 15 held-out windows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1085850">
                <a:tc>
                  <a:txBody>
                    <a:bodyPr/>
                    <a:lstStyle/>
                    <a:p>
                      <a:pPr algn="l">
                        <a:lnSpc>
                          <a:spcPct val="135000"/>
                        </a:lnSpc>
                      </a:pPr>
                      <a:r>
                        <a:rPr sz="600" b="0" i="0" spc="120">
                          <a:solidFill>
                            <a:srgbClr val="C45A3B"/>
                          </a:solidFill>
                          <a:latin typeface="Arial"/>
                        </a:rPr>
                        <a:t>TASK 2</a:t>
                      </a:r>
                    </a:p>
                    <a:p>
                      <a:pPr algn="l">
                        <a:lnSpc>
                          <a:spcPct val="135000"/>
                        </a:lnSpc>
                      </a:pPr>
                      <a:r>
                        <a:rPr sz="975" b="0" i="0">
                          <a:solidFill>
                            <a:srgbClr val="284236"/>
                          </a:solidFill>
                          <a:latin typeface="Arial"/>
                        </a:rPr>
                        <a:t>YOLO-based detection</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Video → frames → YOLO annotation → training → detection</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Auto-labeled detector, no hand-drawn boxes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mAP50 </a:t>
                      </a:r>
                      <a:r>
                        <a:rPr sz="937" b="1" i="0">
                          <a:solidFill>
                            <a:srgbClr val="C45A3B"/>
                          </a:solidFill>
                          <a:latin typeface="Arial"/>
                        </a:rPr>
                        <a:t>0.537</a:t>
                      </a:r>
                      <a:r>
                        <a:rPr sz="937" b="0" i="0">
                          <a:solidFill>
                            <a:srgbClr val="22241F"/>
                          </a:solidFill>
                          <a:latin typeface="Arial"/>
                        </a:rPr>
                        <a:t> on validation; animal found in 59% of held-out frames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1085850">
                <a:tc>
                  <a:txBody>
                    <a:bodyPr/>
                    <a:lstStyle/>
                    <a:p>
                      <a:pPr algn="l">
                        <a:lnSpc>
                          <a:spcPct val="135000"/>
                        </a:lnSpc>
                      </a:pPr>
                      <a:r>
                        <a:rPr sz="600" b="0" i="0" spc="120">
                          <a:solidFill>
                            <a:srgbClr val="C45A3B"/>
                          </a:solidFill>
                          <a:latin typeface="Arial"/>
                        </a:rPr>
                        <a:t>TASK 3</a:t>
                      </a:r>
                    </a:p>
                    <a:p>
                      <a:pPr algn="l">
                        <a:lnSpc>
                          <a:spcPct val="135000"/>
                        </a:lnSpc>
                      </a:pPr>
                      <a:r>
                        <a:rPr sz="975" b="0" i="0">
                          <a:solidFill>
                            <a:srgbClr val="284236"/>
                          </a:solidFill>
                          <a:latin typeface="Arial"/>
                        </a:rPr>
                        <a:t>Keypoint feature analysis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Body Angle · Head Angle · Movement Speed · Limb Distance</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Silhouette geometry with the same four names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937" b="0" i="0">
                          <a:solidFill>
                            <a:srgbClr val="22241F"/>
                          </a:solidFill>
                          <a:latin typeface="Arial"/>
                        </a:rPr>
                        <a:t>Macro F1 </a:t>
                      </a:r>
                      <a:r>
                        <a:rPr sz="937" b="1" i="0">
                          <a:solidFill>
                            <a:srgbClr val="C45A3B"/>
                          </a:solidFill>
                          <a:latin typeface="Arial"/>
                        </a:rPr>
                        <a:t>0.422</a:t>
                      </a:r>
                      <a:r>
                        <a:rPr sz="937" b="0" i="0">
                          <a:solidFill>
                            <a:srgbClr val="22241F"/>
                          </a:solidFill>
                          <a:latin typeface="Arial"/>
                        </a:rPr>
                        <a:t> on 15 test windows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bl>
          </a:graphicData>
        </a:graphic>
      </p:graphicFrame>
      <p:sp>
        <p:nvSpPr>
          <p:cNvPr id="9" name="TextBox 8"/>
          <p:cNvSpPr txBox="1"/>
          <p:nvPr/>
        </p:nvSpPr>
        <p:spPr>
          <a:xfrm>
            <a:off x="609600" y="5257800"/>
            <a:ext cx="10972800" cy="571500"/>
          </a:xfrm>
          <a:prstGeom prst="rect">
            <a:avLst/>
          </a:prstGeom>
          <a:noFill/>
        </p:spPr>
        <p:txBody>
          <a:bodyPr wrap="square" anchor="t" lIns="0" rIns="0" tIns="0" bIns="0">
            <a:noAutofit/>
          </a:bodyPr>
          <a:lstStyle/>
          <a:p>
            <a:pPr algn="l">
              <a:lnSpc>
                <a:spcPct val="135000"/>
              </a:lnSpc>
            </a:pPr>
            <a:r>
              <a:rPr sz="825" b="0" i="0">
                <a:solidFill>
                  <a:srgbClr val="C45A3B"/>
                </a:solidFill>
                <a:latin typeface="Arial"/>
              </a:rPr>
              <a:t>Climbing dropped with instructor confirmation (ADR 0007). </a:t>
            </a:r>
            <a:r>
              <a:rPr sz="825" b="0" i="0">
                <a:solidFill>
                  <a:srgbClr val="C45A3B"/>
                </a:solidFill>
                <a:latin typeface="Arial"/>
              </a:rPr>
              <a:t>Task 3 is a silhouette proxy, not keypoints (ADR 0009).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03 / TASK 1 · DATA</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Task 1: the evidence base</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03 / 10</a:t>
            </a:r>
          </a:p>
        </p:txBody>
      </p:sp>
      <p:sp>
        <p:nvSpPr>
          <p:cNvPr id="8" name="TextBox 7"/>
          <p:cNvSpPr txBox="1"/>
          <p:nvPr/>
        </p:nvSpPr>
        <p:spPr>
          <a:xfrm>
            <a:off x="609600" y="1200150"/>
            <a:ext cx="2381250" cy="533400"/>
          </a:xfrm>
          <a:prstGeom prst="rect">
            <a:avLst/>
          </a:prstGeom>
          <a:noFill/>
        </p:spPr>
        <p:txBody>
          <a:bodyPr wrap="square" anchor="t" lIns="0" rIns="0" tIns="0" bIns="0">
            <a:noAutofit/>
          </a:bodyPr>
          <a:lstStyle/>
          <a:p>
            <a:pPr algn="l">
              <a:lnSpc>
                <a:spcPct val="100000"/>
              </a:lnSpc>
            </a:pPr>
            <a:r>
              <a:rPr sz="3150" b="0" i="0">
                <a:solidFill>
                  <a:srgbClr val="284236"/>
                </a:solidFill>
                <a:latin typeface="Georgia"/>
              </a:rPr>
              <a:t>22</a:t>
            </a:r>
          </a:p>
        </p:txBody>
      </p:sp>
      <p:sp>
        <p:nvSpPr>
          <p:cNvPr id="9" name="TextBox 8"/>
          <p:cNvSpPr txBox="1"/>
          <p:nvPr/>
        </p:nvSpPr>
        <p:spPr>
          <a:xfrm>
            <a:off x="609600" y="1847850"/>
            <a:ext cx="2381250" cy="15240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source clips</a:t>
            </a:r>
          </a:p>
        </p:txBody>
      </p:sp>
      <p:sp>
        <p:nvSpPr>
          <p:cNvPr id="10" name="TextBox 9"/>
          <p:cNvSpPr txBox="1"/>
          <p:nvPr/>
        </p:nvSpPr>
        <p:spPr>
          <a:xfrm>
            <a:off x="3276600" y="1200150"/>
            <a:ext cx="2381250" cy="533400"/>
          </a:xfrm>
          <a:prstGeom prst="rect">
            <a:avLst/>
          </a:prstGeom>
          <a:noFill/>
        </p:spPr>
        <p:txBody>
          <a:bodyPr wrap="square" anchor="t" lIns="0" rIns="0" tIns="0" bIns="0">
            <a:noAutofit/>
          </a:bodyPr>
          <a:lstStyle/>
          <a:p>
            <a:pPr algn="l">
              <a:lnSpc>
                <a:spcPct val="100000"/>
              </a:lnSpc>
            </a:pPr>
            <a:r>
              <a:rPr sz="3150" b="0" i="0">
                <a:solidFill>
                  <a:srgbClr val="284236"/>
                </a:solidFill>
                <a:latin typeface="Georgia"/>
              </a:rPr>
              <a:t>201</a:t>
            </a:r>
          </a:p>
        </p:txBody>
      </p:sp>
      <p:sp>
        <p:nvSpPr>
          <p:cNvPr id="11" name="TextBox 10"/>
          <p:cNvSpPr txBox="1"/>
          <p:nvPr/>
        </p:nvSpPr>
        <p:spPr>
          <a:xfrm>
            <a:off x="3276600" y="1847850"/>
            <a:ext cx="2381250" cy="15240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five-second windows</a:t>
            </a:r>
          </a:p>
        </p:txBody>
      </p:sp>
      <p:sp>
        <p:nvSpPr>
          <p:cNvPr id="12" name="TextBox 11"/>
          <p:cNvSpPr txBox="1"/>
          <p:nvPr/>
        </p:nvSpPr>
        <p:spPr>
          <a:xfrm>
            <a:off x="5943600" y="1200150"/>
            <a:ext cx="2381250" cy="533400"/>
          </a:xfrm>
          <a:prstGeom prst="rect">
            <a:avLst/>
          </a:prstGeom>
          <a:noFill/>
        </p:spPr>
        <p:txBody>
          <a:bodyPr wrap="square" anchor="t" lIns="0" rIns="0" tIns="0" bIns="0">
            <a:noAutofit/>
          </a:bodyPr>
          <a:lstStyle/>
          <a:p>
            <a:pPr algn="l">
              <a:lnSpc>
                <a:spcPct val="100000"/>
              </a:lnSpc>
            </a:pPr>
            <a:r>
              <a:rPr sz="3150" b="0" i="0">
                <a:solidFill>
                  <a:srgbClr val="284236"/>
                </a:solidFill>
                <a:latin typeface="Georgia"/>
              </a:rPr>
              <a:t>138</a:t>
            </a:r>
          </a:p>
        </p:txBody>
      </p:sp>
      <p:sp>
        <p:nvSpPr>
          <p:cNvPr id="13" name="TextBox 12"/>
          <p:cNvSpPr txBox="1"/>
          <p:nvPr/>
        </p:nvSpPr>
        <p:spPr>
          <a:xfrm>
            <a:off x="5943600" y="1847850"/>
            <a:ext cx="2381250" cy="15240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labelled windows</a:t>
            </a:r>
          </a:p>
        </p:txBody>
      </p:sp>
      <p:sp>
        <p:nvSpPr>
          <p:cNvPr id="14" name="TextBox 13"/>
          <p:cNvSpPr txBox="1"/>
          <p:nvPr/>
        </p:nvSpPr>
        <p:spPr>
          <a:xfrm>
            <a:off x="8610600" y="1200150"/>
            <a:ext cx="2381250" cy="533400"/>
          </a:xfrm>
          <a:prstGeom prst="rect">
            <a:avLst/>
          </a:prstGeom>
          <a:noFill/>
        </p:spPr>
        <p:txBody>
          <a:bodyPr wrap="square" anchor="t" lIns="0" rIns="0" tIns="0" bIns="0">
            <a:noAutofit/>
          </a:bodyPr>
          <a:lstStyle/>
          <a:p>
            <a:pPr algn="l">
              <a:lnSpc>
                <a:spcPct val="100000"/>
              </a:lnSpc>
            </a:pPr>
            <a:r>
              <a:rPr sz="2550" b="0" i="0">
                <a:solidFill>
                  <a:srgbClr val="284236"/>
                </a:solidFill>
                <a:latin typeface="Georgia"/>
              </a:rPr>
              <a:t>93 · 30 · 15</a:t>
            </a:r>
          </a:p>
        </p:txBody>
      </p:sp>
      <p:sp>
        <p:nvSpPr>
          <p:cNvPr id="15" name="TextBox 14"/>
          <p:cNvSpPr txBox="1"/>
          <p:nvPr/>
        </p:nvSpPr>
        <p:spPr>
          <a:xfrm>
            <a:off x="8610600" y="1847850"/>
            <a:ext cx="2381250" cy="15240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train · val · test</a:t>
            </a:r>
          </a:p>
        </p:txBody>
      </p:sp>
      <p:sp>
        <p:nvSpPr>
          <p:cNvPr id="16" name="Rectangle 15"/>
          <p:cNvSpPr/>
          <p:nvPr/>
        </p:nvSpPr>
        <p:spPr>
          <a:xfrm>
            <a:off x="609600" y="2324100"/>
            <a:ext cx="10972800" cy="9525"/>
          </a:xfrm>
          <a:prstGeom prst="rect">
            <a:avLst/>
          </a:prstGeom>
          <a:solidFill>
            <a:srgbClr val="64675E"/>
          </a:solidFill>
          <a:ln>
            <a:noFill/>
          </a:ln>
          <a:effectLst/>
        </p:spPr>
        <p:txBody>
          <a:bodyPr rtlCol="0" anchor="ctr"/>
          <a:lstStyle/>
          <a:p>
            <a:pPr algn="ctr"/>
          </a:p>
        </p:txBody>
      </p:sp>
      <p:sp>
        <p:nvSpPr>
          <p:cNvPr id="17" name="TextBox 16"/>
          <p:cNvSpPr txBox="1"/>
          <p:nvPr/>
        </p:nvSpPr>
        <p:spPr>
          <a:xfrm>
            <a:off x="609600" y="2743200"/>
            <a:ext cx="381000" cy="133350"/>
          </a:xfrm>
          <a:prstGeom prst="rect">
            <a:avLst/>
          </a:prstGeom>
          <a:noFill/>
        </p:spPr>
        <p:txBody>
          <a:bodyPr wrap="square" anchor="t" lIns="0" rIns="0" tIns="0" bIns="0">
            <a:noAutofit/>
          </a:bodyPr>
          <a:lstStyle/>
          <a:p>
            <a:pPr algn="l">
              <a:lnSpc>
                <a:spcPct val="120000"/>
              </a:lnSpc>
            </a:pPr>
            <a:r>
              <a:rPr sz="675" b="0" i="0" spc="120">
                <a:solidFill>
                  <a:srgbClr val="87966F"/>
                </a:solidFill>
                <a:latin typeface="Arial"/>
              </a:rPr>
              <a:t>01</a:t>
            </a:r>
          </a:p>
        </p:txBody>
      </p:sp>
      <p:sp>
        <p:nvSpPr>
          <p:cNvPr id="18" name="TextBox 17"/>
          <p:cNvSpPr txBox="1"/>
          <p:nvPr/>
        </p:nvSpPr>
        <p:spPr>
          <a:xfrm>
            <a:off x="609600" y="2933700"/>
            <a:ext cx="219075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Source clips</a:t>
            </a:r>
          </a:p>
        </p:txBody>
      </p:sp>
      <p:sp>
        <p:nvSpPr>
          <p:cNvPr id="19" name="TextBox 18"/>
          <p:cNvSpPr txBox="1"/>
          <p:nvPr/>
        </p:nvSpPr>
        <p:spPr>
          <a:xfrm>
            <a:off x="609600" y="3219450"/>
            <a:ext cx="2095500" cy="323850"/>
          </a:xfrm>
          <a:prstGeom prst="rect">
            <a:avLst/>
          </a:prstGeom>
          <a:noFill/>
        </p:spPr>
        <p:txBody>
          <a:bodyPr wrap="square" anchor="t" lIns="0" rIns="0" tIns="0" bIns="0">
            <a:noAutofit/>
          </a:bodyPr>
          <a:lstStyle/>
          <a:p>
            <a:pPr algn="l">
              <a:lnSpc>
                <a:spcPct val="125000"/>
              </a:lnSpc>
            </a:pPr>
            <a:r>
              <a:rPr sz="787" b="0" i="0">
                <a:solidFill>
                  <a:srgbClr val="22241F"/>
                </a:solidFill>
                <a:latin typeface="Arial"/>
              </a:rPr>
              <a:t>22 fixed-camera MP4s</a:t>
            </a:r>
          </a:p>
        </p:txBody>
      </p:sp>
      <p:sp>
        <p:nvSpPr>
          <p:cNvPr id="20" name="TextBox 19"/>
          <p:cNvSpPr txBox="1"/>
          <p:nvPr/>
        </p:nvSpPr>
        <p:spPr>
          <a:xfrm>
            <a:off x="2876550" y="2971800"/>
            <a:ext cx="266700" cy="152400"/>
          </a:xfrm>
          <a:prstGeom prst="rect">
            <a:avLst/>
          </a:prstGeom>
          <a:noFill/>
        </p:spPr>
        <p:txBody>
          <a:bodyPr wrap="square" anchor="t" lIns="0" rIns="0" tIns="0" bIns="0">
            <a:noAutofit/>
          </a:bodyPr>
          <a:lstStyle/>
          <a:p>
            <a:pPr algn="ctr">
              <a:lnSpc>
                <a:spcPct val="100000"/>
              </a:lnSpc>
            </a:pPr>
            <a:r>
              <a:rPr sz="900" b="0" i="0">
                <a:solidFill>
                  <a:srgbClr val="87966F"/>
                </a:solidFill>
                <a:latin typeface="Arial"/>
              </a:rPr>
              <a:t>→</a:t>
            </a:r>
          </a:p>
        </p:txBody>
      </p:sp>
      <p:sp>
        <p:nvSpPr>
          <p:cNvPr id="21" name="TextBox 20"/>
          <p:cNvSpPr txBox="1"/>
          <p:nvPr/>
        </p:nvSpPr>
        <p:spPr>
          <a:xfrm>
            <a:off x="3314700" y="2743200"/>
            <a:ext cx="381000" cy="133350"/>
          </a:xfrm>
          <a:prstGeom prst="rect">
            <a:avLst/>
          </a:prstGeom>
          <a:noFill/>
        </p:spPr>
        <p:txBody>
          <a:bodyPr wrap="square" anchor="t" lIns="0" rIns="0" tIns="0" bIns="0">
            <a:noAutofit/>
          </a:bodyPr>
          <a:lstStyle/>
          <a:p>
            <a:pPr algn="l">
              <a:lnSpc>
                <a:spcPct val="120000"/>
              </a:lnSpc>
            </a:pPr>
            <a:r>
              <a:rPr sz="675" b="0" i="0" spc="120">
                <a:solidFill>
                  <a:srgbClr val="87966F"/>
                </a:solidFill>
                <a:latin typeface="Arial"/>
              </a:rPr>
              <a:t>02</a:t>
            </a:r>
          </a:p>
        </p:txBody>
      </p:sp>
      <p:sp>
        <p:nvSpPr>
          <p:cNvPr id="22" name="TextBox 21"/>
          <p:cNvSpPr txBox="1"/>
          <p:nvPr/>
        </p:nvSpPr>
        <p:spPr>
          <a:xfrm>
            <a:off x="3314700" y="2933700"/>
            <a:ext cx="219075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Verified intervals</a:t>
            </a:r>
          </a:p>
        </p:txBody>
      </p:sp>
      <p:sp>
        <p:nvSpPr>
          <p:cNvPr id="23" name="TextBox 22"/>
          <p:cNvSpPr txBox="1"/>
          <p:nvPr/>
        </p:nvSpPr>
        <p:spPr>
          <a:xfrm>
            <a:off x="3314700" y="3219450"/>
            <a:ext cx="2095500" cy="323850"/>
          </a:xfrm>
          <a:prstGeom prst="rect">
            <a:avLst/>
          </a:prstGeom>
          <a:noFill/>
        </p:spPr>
        <p:txBody>
          <a:bodyPr wrap="square" anchor="t" lIns="0" rIns="0" tIns="0" bIns="0">
            <a:noAutofit/>
          </a:bodyPr>
          <a:lstStyle/>
          <a:p>
            <a:pPr algn="l">
              <a:lnSpc>
                <a:spcPct val="125000"/>
              </a:lnSpc>
            </a:pPr>
            <a:r>
              <a:rPr sz="787" b="0" i="0">
                <a:solidFill>
                  <a:srgbClr val="22241F"/>
                </a:solidFill>
                <a:latin typeface="Arial"/>
              </a:rPr>
              <a:t>one class per whole span</a:t>
            </a:r>
          </a:p>
        </p:txBody>
      </p:sp>
      <p:sp>
        <p:nvSpPr>
          <p:cNvPr id="24" name="TextBox 23"/>
          <p:cNvSpPr txBox="1"/>
          <p:nvPr/>
        </p:nvSpPr>
        <p:spPr>
          <a:xfrm>
            <a:off x="5581650" y="2971800"/>
            <a:ext cx="266700" cy="152400"/>
          </a:xfrm>
          <a:prstGeom prst="rect">
            <a:avLst/>
          </a:prstGeom>
          <a:noFill/>
        </p:spPr>
        <p:txBody>
          <a:bodyPr wrap="square" anchor="t" lIns="0" rIns="0" tIns="0" bIns="0">
            <a:noAutofit/>
          </a:bodyPr>
          <a:lstStyle/>
          <a:p>
            <a:pPr algn="ctr">
              <a:lnSpc>
                <a:spcPct val="100000"/>
              </a:lnSpc>
            </a:pPr>
            <a:r>
              <a:rPr sz="900" b="0" i="0">
                <a:solidFill>
                  <a:srgbClr val="87966F"/>
                </a:solidFill>
                <a:latin typeface="Arial"/>
              </a:rPr>
              <a:t>→</a:t>
            </a:r>
          </a:p>
        </p:txBody>
      </p:sp>
      <p:sp>
        <p:nvSpPr>
          <p:cNvPr id="25" name="TextBox 24"/>
          <p:cNvSpPr txBox="1"/>
          <p:nvPr/>
        </p:nvSpPr>
        <p:spPr>
          <a:xfrm>
            <a:off x="6019800" y="2743200"/>
            <a:ext cx="381000" cy="133350"/>
          </a:xfrm>
          <a:prstGeom prst="rect">
            <a:avLst/>
          </a:prstGeom>
          <a:noFill/>
        </p:spPr>
        <p:txBody>
          <a:bodyPr wrap="square" anchor="t" lIns="0" rIns="0" tIns="0" bIns="0">
            <a:noAutofit/>
          </a:bodyPr>
          <a:lstStyle/>
          <a:p>
            <a:pPr algn="l">
              <a:lnSpc>
                <a:spcPct val="120000"/>
              </a:lnSpc>
            </a:pPr>
            <a:r>
              <a:rPr sz="675" b="0" i="0" spc="120">
                <a:solidFill>
                  <a:srgbClr val="87966F"/>
                </a:solidFill>
                <a:latin typeface="Arial"/>
              </a:rPr>
              <a:t>03</a:t>
            </a:r>
          </a:p>
        </p:txBody>
      </p:sp>
      <p:sp>
        <p:nvSpPr>
          <p:cNvPr id="26" name="TextBox 25"/>
          <p:cNvSpPr txBox="1"/>
          <p:nvPr/>
        </p:nvSpPr>
        <p:spPr>
          <a:xfrm>
            <a:off x="6019800" y="2933700"/>
            <a:ext cx="219075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Five-second windows</a:t>
            </a:r>
          </a:p>
        </p:txBody>
      </p:sp>
      <p:sp>
        <p:nvSpPr>
          <p:cNvPr id="27" name="TextBox 26"/>
          <p:cNvSpPr txBox="1"/>
          <p:nvPr/>
        </p:nvSpPr>
        <p:spPr>
          <a:xfrm>
            <a:off x="6019800" y="3219450"/>
            <a:ext cx="2095500" cy="323850"/>
          </a:xfrm>
          <a:prstGeom prst="rect">
            <a:avLst/>
          </a:prstGeom>
          <a:noFill/>
        </p:spPr>
        <p:txBody>
          <a:bodyPr wrap="square" anchor="t" lIns="0" rIns="0" tIns="0" bIns="0">
            <a:noAutofit/>
          </a:bodyPr>
          <a:lstStyle/>
          <a:p>
            <a:pPr algn="l">
              <a:lnSpc>
                <a:spcPct val="125000"/>
              </a:lnSpc>
            </a:pPr>
            <a:r>
              <a:rPr sz="787" b="0" i="0">
                <a:solidFill>
                  <a:srgbClr val="22241F"/>
                </a:solidFill>
                <a:latin typeface="Arial"/>
              </a:rPr>
              <a:t>a fixed grid over each clip</a:t>
            </a:r>
          </a:p>
        </p:txBody>
      </p:sp>
      <p:sp>
        <p:nvSpPr>
          <p:cNvPr id="28" name="TextBox 27"/>
          <p:cNvSpPr txBox="1"/>
          <p:nvPr/>
        </p:nvSpPr>
        <p:spPr>
          <a:xfrm>
            <a:off x="8286750" y="2971800"/>
            <a:ext cx="266700" cy="152400"/>
          </a:xfrm>
          <a:prstGeom prst="rect">
            <a:avLst/>
          </a:prstGeom>
          <a:noFill/>
        </p:spPr>
        <p:txBody>
          <a:bodyPr wrap="square" anchor="t" lIns="0" rIns="0" tIns="0" bIns="0">
            <a:noAutofit/>
          </a:bodyPr>
          <a:lstStyle/>
          <a:p>
            <a:pPr algn="ctr">
              <a:lnSpc>
                <a:spcPct val="100000"/>
              </a:lnSpc>
            </a:pPr>
            <a:r>
              <a:rPr sz="900" b="0" i="0">
                <a:solidFill>
                  <a:srgbClr val="87966F"/>
                </a:solidFill>
                <a:latin typeface="Arial"/>
              </a:rPr>
              <a:t>→</a:t>
            </a:r>
          </a:p>
        </p:txBody>
      </p:sp>
      <p:sp>
        <p:nvSpPr>
          <p:cNvPr id="29" name="TextBox 28"/>
          <p:cNvSpPr txBox="1"/>
          <p:nvPr/>
        </p:nvSpPr>
        <p:spPr>
          <a:xfrm>
            <a:off x="8724900" y="2743200"/>
            <a:ext cx="381000" cy="133350"/>
          </a:xfrm>
          <a:prstGeom prst="rect">
            <a:avLst/>
          </a:prstGeom>
          <a:noFill/>
        </p:spPr>
        <p:txBody>
          <a:bodyPr wrap="square" anchor="t" lIns="0" rIns="0" tIns="0" bIns="0">
            <a:noAutofit/>
          </a:bodyPr>
          <a:lstStyle/>
          <a:p>
            <a:pPr algn="l">
              <a:lnSpc>
                <a:spcPct val="120000"/>
              </a:lnSpc>
            </a:pPr>
            <a:r>
              <a:rPr sz="675" b="0" i="0" spc="120">
                <a:solidFill>
                  <a:srgbClr val="87966F"/>
                </a:solidFill>
                <a:latin typeface="Arial"/>
              </a:rPr>
              <a:t>04</a:t>
            </a:r>
          </a:p>
        </p:txBody>
      </p:sp>
      <p:sp>
        <p:nvSpPr>
          <p:cNvPr id="30" name="TextBox 29"/>
          <p:cNvSpPr txBox="1"/>
          <p:nvPr/>
        </p:nvSpPr>
        <p:spPr>
          <a:xfrm>
            <a:off x="8724900" y="2933700"/>
            <a:ext cx="219075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Split by whole clip</a:t>
            </a:r>
          </a:p>
        </p:txBody>
      </p:sp>
      <p:sp>
        <p:nvSpPr>
          <p:cNvPr id="31" name="TextBox 30"/>
          <p:cNvSpPr txBox="1"/>
          <p:nvPr/>
        </p:nvSpPr>
        <p:spPr>
          <a:xfrm>
            <a:off x="8724900" y="3219450"/>
            <a:ext cx="2095500" cy="323850"/>
          </a:xfrm>
          <a:prstGeom prst="rect">
            <a:avLst/>
          </a:prstGeom>
          <a:noFill/>
        </p:spPr>
        <p:txBody>
          <a:bodyPr wrap="square" anchor="t" lIns="0" rIns="0" tIns="0" bIns="0">
            <a:noAutofit/>
          </a:bodyPr>
          <a:lstStyle/>
          <a:p>
            <a:pPr algn="l">
              <a:lnSpc>
                <a:spcPct val="125000"/>
              </a:lnSpc>
            </a:pPr>
            <a:r>
              <a:rPr sz="787" b="0" i="0">
                <a:solidFill>
                  <a:srgbClr val="22241F"/>
                </a:solidFill>
                <a:latin typeface="Arial"/>
              </a:rPr>
              <a:t>no frame-level leakage</a:t>
            </a:r>
          </a:p>
        </p:txBody>
      </p:sp>
      <p:sp>
        <p:nvSpPr>
          <p:cNvPr id="32" name="Rectangle 31"/>
          <p:cNvSpPr/>
          <p:nvPr/>
        </p:nvSpPr>
        <p:spPr>
          <a:xfrm>
            <a:off x="609600" y="4095750"/>
            <a:ext cx="10972800" cy="9525"/>
          </a:xfrm>
          <a:prstGeom prst="rect">
            <a:avLst/>
          </a:prstGeom>
          <a:solidFill>
            <a:srgbClr val="64675E"/>
          </a:solidFill>
          <a:ln>
            <a:noFill/>
          </a:ln>
          <a:effectLst/>
        </p:spPr>
        <p:txBody>
          <a:bodyPr rtlCol="0" anchor="ctr"/>
          <a:lstStyle/>
          <a:p>
            <a:pPr algn="ctr"/>
          </a:p>
        </p:txBody>
      </p:sp>
      <p:sp>
        <p:nvSpPr>
          <p:cNvPr id="33" name="TextBox 32"/>
          <p:cNvSpPr txBox="1"/>
          <p:nvPr/>
        </p:nvSpPr>
        <p:spPr>
          <a:xfrm>
            <a:off x="609600" y="4267200"/>
            <a:ext cx="10972800" cy="228600"/>
          </a:xfrm>
          <a:prstGeom prst="rect">
            <a:avLst/>
          </a:prstGeom>
          <a:noFill/>
        </p:spPr>
        <p:txBody>
          <a:bodyPr wrap="square" anchor="t" lIns="0" rIns="0" tIns="0" bIns="0">
            <a:noAutofit/>
          </a:bodyPr>
          <a:lstStyle/>
          <a:p>
            <a:pPr algn="l">
              <a:lnSpc>
                <a:spcPct val="120000"/>
              </a:lnSpc>
            </a:pPr>
            <a:r>
              <a:rPr sz="675" b="0" i="0" spc="140">
                <a:solidFill>
                  <a:srgbClr val="64675E"/>
                </a:solidFill>
                <a:latin typeface="Arial"/>
              </a:rPr>
              <a:t>THE TEST SPLIT</a:t>
            </a:r>
          </a:p>
        </p:txBody>
      </p:sp>
      <p:sp>
        <p:nvSpPr>
          <p:cNvPr id="34" name="TextBox 33"/>
          <p:cNvSpPr txBox="1"/>
          <p:nvPr/>
        </p:nvSpPr>
        <p:spPr>
          <a:xfrm>
            <a:off x="609600" y="4514850"/>
            <a:ext cx="10477500" cy="628650"/>
          </a:xfrm>
          <a:prstGeom prst="rect">
            <a:avLst/>
          </a:prstGeom>
          <a:noFill/>
        </p:spPr>
        <p:txBody>
          <a:bodyPr wrap="square" anchor="t" lIns="0" rIns="0" tIns="0" bIns="0">
            <a:noAutofit/>
          </a:bodyPr>
          <a:lstStyle/>
          <a:p>
            <a:pPr algn="l">
              <a:lnSpc>
                <a:spcPct val="140000"/>
              </a:lnSpc>
            </a:pPr>
            <a:r>
              <a:rPr sz="1050" b="0" i="0">
                <a:solidFill>
                  <a:srgbClr val="22241F"/>
                </a:solidFill>
                <a:latin typeface="Arial"/>
              </a:rPr>
              <a:t>The eight-clip gold set: two labeling passes, interval Dice </a:t>
            </a:r>
            <a:r>
              <a:rPr sz="1050" b="1" i="0">
                <a:solidFill>
                  <a:srgbClr val="C45A3B"/>
                </a:solidFill>
                <a:latin typeface="Arial"/>
              </a:rPr>
              <a:t>0.597</a:t>
            </a:r>
            <a:r>
              <a:rPr sz="1050" b="0" i="0">
                <a:solidFill>
                  <a:srgbClr val="22241F"/>
                </a:solidFill>
                <a:latin typeface="Arial"/>
              </a:rPr>
              <a:t>, reconciled, and locked on 2026-10-20 before the test was read.</a:t>
            </a:r>
          </a:p>
        </p:txBody>
      </p:sp>
      <p:sp>
        <p:nvSpPr>
          <p:cNvPr id="35" name="TextBox 34"/>
          <p:cNvSpPr txBox="1"/>
          <p:nvPr/>
        </p:nvSpPr>
        <p:spPr>
          <a:xfrm>
            <a:off x="609600" y="5334000"/>
            <a:ext cx="10477500" cy="190500"/>
          </a:xfrm>
          <a:prstGeom prst="rect">
            <a:avLst/>
          </a:prstGeom>
          <a:noFill/>
        </p:spPr>
        <p:txBody>
          <a:bodyPr wrap="square" anchor="t" lIns="0" rIns="0" tIns="0" bIns="0">
            <a:noAutofit/>
          </a:bodyPr>
          <a:lstStyle/>
          <a:p>
            <a:pPr algn="l">
              <a:lnSpc>
                <a:spcPct val="120000"/>
              </a:lnSpc>
            </a:pPr>
            <a:r>
              <a:rPr sz="750" b="0" i="0">
                <a:solidFill>
                  <a:srgbClr val="64675E"/>
                </a:solidFill>
                <a:latin typeface="Arial"/>
              </a:rPr>
              <a:t>63 of 201 windows are dropped: 46 not covered completely by one interval, 17 touching a Transition or Uncertain span.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04 / TASK 1 · RESULT</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Task 1: 0.949 held-out macro F1</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04 / 10</a:t>
            </a:r>
          </a:p>
        </p:txBody>
      </p:sp>
      <p:sp>
        <p:nvSpPr>
          <p:cNvPr id="8" name="TextBox 7"/>
          <p:cNvSpPr txBox="1"/>
          <p:nvPr/>
        </p:nvSpPr>
        <p:spPr>
          <a:xfrm>
            <a:off x="609600" y="1295400"/>
            <a:ext cx="4095750" cy="1143000"/>
          </a:xfrm>
          <a:prstGeom prst="rect">
            <a:avLst/>
          </a:prstGeom>
          <a:noFill/>
        </p:spPr>
        <p:txBody>
          <a:bodyPr wrap="square" anchor="t" lIns="0" rIns="0" tIns="0" bIns="0">
            <a:noAutofit/>
          </a:bodyPr>
          <a:lstStyle/>
          <a:p>
            <a:pPr algn="l">
              <a:lnSpc>
                <a:spcPct val="95000"/>
              </a:lnSpc>
            </a:pPr>
            <a:r>
              <a:rPr sz="7200" b="0" i="0">
                <a:solidFill>
                  <a:srgbClr val="C45A3B"/>
                </a:solidFill>
                <a:latin typeface="Georgia"/>
              </a:rPr>
              <a:t>0.949</a:t>
            </a:r>
          </a:p>
        </p:txBody>
      </p:sp>
      <p:sp>
        <p:nvSpPr>
          <p:cNvPr id="9" name="TextBox 8"/>
          <p:cNvSpPr txBox="1"/>
          <p:nvPr/>
        </p:nvSpPr>
        <p:spPr>
          <a:xfrm>
            <a:off x="609600" y="2552700"/>
            <a:ext cx="4095750" cy="133350"/>
          </a:xfrm>
          <a:prstGeom prst="rect">
            <a:avLst/>
          </a:prstGeom>
          <a:noFill/>
        </p:spPr>
        <p:txBody>
          <a:bodyPr wrap="square" anchor="t" lIns="0" rIns="0" tIns="0" bIns="0">
            <a:noAutofit/>
          </a:bodyPr>
          <a:lstStyle/>
          <a:p>
            <a:pPr algn="l">
              <a:lnSpc>
                <a:spcPct val="120000"/>
              </a:lnSpc>
            </a:pPr>
            <a:r>
              <a:rPr sz="675" b="0" i="0" spc="140">
                <a:solidFill>
                  <a:srgbClr val="64675E"/>
                </a:solidFill>
                <a:latin typeface="Arial"/>
              </a:rPr>
              <a:t>MACRO F1 · 15 HELD-OUT WINDOWS</a:t>
            </a:r>
          </a:p>
        </p:txBody>
      </p:sp>
      <p:sp>
        <p:nvSpPr>
          <p:cNvPr id="10" name="Rectangle 9"/>
          <p:cNvSpPr/>
          <p:nvPr/>
        </p:nvSpPr>
        <p:spPr>
          <a:xfrm>
            <a:off x="609600" y="2857500"/>
            <a:ext cx="4095750" cy="9525"/>
          </a:xfrm>
          <a:prstGeom prst="rect">
            <a:avLst/>
          </a:prstGeom>
          <a:solidFill>
            <a:srgbClr val="64675E"/>
          </a:solidFill>
          <a:ln>
            <a:noFill/>
          </a:ln>
          <a:effectLst/>
        </p:spPr>
        <p:txBody>
          <a:bodyPr rtlCol="0" anchor="ctr"/>
          <a:lstStyle/>
          <a:p>
            <a:pPr algn="ctr"/>
          </a:p>
        </p:txBody>
      </p:sp>
      <p:sp>
        <p:nvSpPr>
          <p:cNvPr id="11" name="TextBox 10"/>
          <p:cNvSpPr txBox="1"/>
          <p:nvPr/>
        </p:nvSpPr>
        <p:spPr>
          <a:xfrm>
            <a:off x="609600" y="3009900"/>
            <a:ext cx="4095750" cy="133350"/>
          </a:xfrm>
          <a:prstGeom prst="rect">
            <a:avLst/>
          </a:prstGeom>
          <a:noFill/>
        </p:spPr>
        <p:txBody>
          <a:bodyPr wrap="square" anchor="t" lIns="0" rIns="0" tIns="0" bIns="0">
            <a:noAutofit/>
          </a:bodyPr>
          <a:lstStyle/>
          <a:p>
            <a:pPr algn="l">
              <a:lnSpc>
                <a:spcPct val="120000"/>
              </a:lnSpc>
            </a:pPr>
            <a:r>
              <a:rPr sz="675" b="0" i="0" spc="140">
                <a:solidFill>
                  <a:srgbClr val="C45A3B"/>
                </a:solidFill>
                <a:latin typeface="Arial"/>
              </a:rPr>
              <a:t>ONE ERROR</a:t>
            </a:r>
          </a:p>
        </p:txBody>
      </p:sp>
      <p:sp>
        <p:nvSpPr>
          <p:cNvPr id="12" name="TextBox 11"/>
          <p:cNvSpPr txBox="1"/>
          <p:nvPr/>
        </p:nvSpPr>
        <p:spPr>
          <a:xfrm>
            <a:off x="609600" y="3200400"/>
            <a:ext cx="4095750" cy="571500"/>
          </a:xfrm>
          <a:prstGeom prst="rect">
            <a:avLst/>
          </a:prstGeom>
          <a:noFill/>
        </p:spPr>
        <p:txBody>
          <a:bodyPr wrap="square" anchor="t" lIns="0" rIns="0" tIns="0" bIns="0">
            <a:noAutofit/>
          </a:bodyPr>
          <a:lstStyle/>
          <a:p>
            <a:pPr algn="l">
              <a:lnSpc>
                <a:spcPct val="130000"/>
              </a:lnSpc>
            </a:pPr>
            <a:r>
              <a:rPr sz="900" b="0" i="0">
                <a:solidFill>
                  <a:srgbClr val="22241F"/>
                </a:solidFill>
                <a:latin typeface="Arial"/>
              </a:rPr>
              <a:t>Clip 25690519193808204, 40–45 s.</a:t>
            </a:r>
          </a:p>
          <a:p>
            <a:pPr algn="l">
              <a:lnSpc>
                <a:spcPct val="130000"/>
              </a:lnSpc>
            </a:pPr>
            <a:r>
              <a:rPr sz="900" b="0" i="0">
                <a:solidFill>
                  <a:srgbClr val="22241F"/>
                </a:solidFill>
                <a:latin typeface="Arial"/>
              </a:rPr>
              <a:t>Labelled Eating; predicted Resting at 0.847.</a:t>
            </a:r>
          </a:p>
        </p:txBody>
      </p:sp>
      <p:sp>
        <p:nvSpPr>
          <p:cNvPr id="13" name="TextBox 12"/>
          <p:cNvSpPr txBox="1"/>
          <p:nvPr/>
        </p:nvSpPr>
        <p:spPr>
          <a:xfrm>
            <a:off x="5715000" y="1123950"/>
            <a:ext cx="5238750" cy="133350"/>
          </a:xfrm>
          <a:prstGeom prst="rect">
            <a:avLst/>
          </a:prstGeom>
          <a:noFill/>
        </p:spPr>
        <p:txBody>
          <a:bodyPr wrap="square" anchor="t" lIns="0" rIns="0" tIns="0" bIns="0">
            <a:noAutofit/>
          </a:bodyPr>
          <a:lstStyle/>
          <a:p>
            <a:pPr algn="l">
              <a:lnSpc>
                <a:spcPct val="120000"/>
              </a:lnSpc>
            </a:pPr>
            <a:r>
              <a:rPr sz="600" b="0" i="0" spc="120">
                <a:solidFill>
                  <a:srgbClr val="64675E"/>
                </a:solidFill>
                <a:latin typeface="Arial"/>
              </a:rPr>
              <a:t>CONFUSION MATRIX · ROWS TRUE / COLUMNS PREDICTED</a:t>
            </a:r>
          </a:p>
        </p:txBody>
      </p:sp>
      <p:graphicFrame>
        <p:nvGraphicFramePr>
          <p:cNvPr id="14" name="Table 13"/>
          <p:cNvGraphicFramePr>
            <a:graphicFrameLocks noGrp="1"/>
          </p:cNvGraphicFramePr>
          <p:nvPr/>
        </p:nvGraphicFramePr>
        <p:xfrm>
          <a:off x="5715000" y="1371600"/>
          <a:ext cx="5238750" cy="2057400"/>
        </p:xfrm>
        <a:graphic>
          <a:graphicData uri="http://schemas.openxmlformats.org/drawingml/2006/table">
            <a:tbl>
              <a:tblPr/>
              <a:tblGrid>
                <a:gridCol w="1619250"/>
                <a:gridCol w="876300"/>
                <a:gridCol w="1028700"/>
                <a:gridCol w="876300"/>
                <a:gridCol w="838200"/>
              </a:tblGrid>
              <a:tr h="304800">
                <a:tc>
                  <a:txBody>
                    <a:bodyPr/>
                    <a:lstStyle/>
                    <a:p>
                      <a:pPr algn="l">
                        <a:lnSpc>
                          <a:spcPct val="110000"/>
                        </a:lnSpc>
                      </a:pPr>
                      <a:r>
                        <a:rPr sz="600" b="0" i="0">
                          <a:solidFill>
                            <a:srgbClr val="64675E"/>
                          </a:solidFill>
                          <a:latin typeface="Arial"/>
                        </a:rPr>
                        <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ctr">
                        <a:lnSpc>
                          <a:spcPct val="110000"/>
                        </a:lnSpc>
                      </a:pPr>
                      <a:r>
                        <a:rPr sz="600" b="0" i="0">
                          <a:solidFill>
                            <a:srgbClr val="64675E"/>
                          </a:solidFill>
                          <a:latin typeface="Arial"/>
                        </a:rPr>
                        <a:t>EATING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ctr">
                        <a:lnSpc>
                          <a:spcPct val="110000"/>
                        </a:lnSpc>
                      </a:pPr>
                      <a:r>
                        <a:rPr sz="600" b="0" i="0">
                          <a:solidFill>
                            <a:srgbClr val="64675E"/>
                          </a:solidFill>
                          <a:latin typeface="Arial"/>
                        </a:rPr>
                        <a:t>LOCOMOTION</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ctr">
                        <a:lnSpc>
                          <a:spcPct val="110000"/>
                        </a:lnSpc>
                      </a:pPr>
                      <a:r>
                        <a:rPr sz="600" b="0" i="0">
                          <a:solidFill>
                            <a:srgbClr val="64675E"/>
                          </a:solidFill>
                          <a:latin typeface="Arial"/>
                        </a:rPr>
                        <a:t>RESTING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ctr">
                        <a:lnSpc>
                          <a:spcPct val="110000"/>
                        </a:lnSpc>
                      </a:pPr>
                      <a:r>
                        <a:rPr sz="600" b="0" i="0">
                          <a:solidFill>
                            <a:srgbClr val="64675E"/>
                          </a:solidFill>
                          <a:latin typeface="Arial"/>
                        </a:rPr>
                        <a:t>TOTAL</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r>
              <a:tr h="438150">
                <a:tc>
                  <a:txBody>
                    <a:bodyPr/>
                    <a:lstStyle/>
                    <a:p>
                      <a:pPr algn="r">
                        <a:lnSpc>
                          <a:spcPct val="110000"/>
                        </a:lnSpc>
                      </a:pPr>
                      <a:r>
                        <a:rPr sz="900" b="0" i="0">
                          <a:solidFill>
                            <a:srgbClr val="22241F"/>
                          </a:solidFill>
                          <a:latin typeface="Arial"/>
                        </a:rPr>
                        <a:t>Eating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6</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0</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1" i="0">
                          <a:solidFill>
                            <a:srgbClr val="C45A3B"/>
                          </a:solidFill>
                          <a:latin typeface="Georgia"/>
                        </a:rPr>
                        <a:t>1</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7</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438150">
                <a:tc>
                  <a:txBody>
                    <a:bodyPr/>
                    <a:lstStyle/>
                    <a:p>
                      <a:pPr algn="r">
                        <a:lnSpc>
                          <a:spcPct val="110000"/>
                        </a:lnSpc>
                      </a:pPr>
                      <a:r>
                        <a:rPr sz="900" b="0" i="0">
                          <a:solidFill>
                            <a:srgbClr val="22241F"/>
                          </a:solidFill>
                          <a:latin typeface="Arial"/>
                        </a:rPr>
                        <a:t>Locomotion</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0</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2</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0</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2</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438150">
                <a:tc>
                  <a:txBody>
                    <a:bodyPr/>
                    <a:lstStyle/>
                    <a:p>
                      <a:pPr algn="r">
                        <a:lnSpc>
                          <a:spcPct val="110000"/>
                        </a:lnSpc>
                      </a:pPr>
                      <a:r>
                        <a:rPr sz="900" b="0" i="0">
                          <a:solidFill>
                            <a:srgbClr val="22241F"/>
                          </a:solidFill>
                          <a:latin typeface="Arial"/>
                        </a:rPr>
                        <a:t>Resting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0</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0</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6</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125" b="0" i="0">
                          <a:solidFill>
                            <a:srgbClr val="22241F"/>
                          </a:solidFill>
                          <a:latin typeface="Georgia"/>
                        </a:rPr>
                        <a:t>6</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438150">
                <a:tc>
                  <a:txBody>
                    <a:bodyPr/>
                    <a:lstStyle/>
                    <a:p>
                      <a:pPr algn="r">
                        <a:lnSpc>
                          <a:spcPct val="110000"/>
                        </a:lnSpc>
                      </a:pPr>
                      <a:r>
                        <a:rPr sz="600" b="1" i="0">
                          <a:solidFill>
                            <a:srgbClr val="64675E"/>
                          </a:solidFill>
                          <a:latin typeface="Arial"/>
                        </a:rPr>
                        <a:t>TOTAL</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12700" cap="flat" cmpd="sng" algn="ctr">
                      <a:solidFill>
                        <a:srgbClr val="F3EEDF"/>
                      </a:solidFill>
                      <a:prstDash val="solid"/>
                    </a:lnB>
                    <a:solidFill>
                      <a:srgbClr val="F3EEDF"/>
                    </a:solidFill>
                  </a:tcPr>
                </a:tc>
                <a:tc>
                  <a:txBody>
                    <a:bodyPr/>
                    <a:lstStyle/>
                    <a:p>
                      <a:pPr algn="ctr">
                        <a:lnSpc>
                          <a:spcPct val="110000"/>
                        </a:lnSpc>
                      </a:pPr>
                      <a:r>
                        <a:rPr sz="1125" b="1" i="0">
                          <a:solidFill>
                            <a:srgbClr val="284236"/>
                          </a:solidFill>
                          <a:latin typeface="Georgia"/>
                        </a:rPr>
                        <a:t>6</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12700" cap="flat" cmpd="sng" algn="ctr">
                      <a:solidFill>
                        <a:srgbClr val="F3EEDF"/>
                      </a:solidFill>
                      <a:prstDash val="solid"/>
                    </a:lnB>
                    <a:solidFill>
                      <a:srgbClr val="F3EEDF"/>
                    </a:solidFill>
                  </a:tcPr>
                </a:tc>
                <a:tc>
                  <a:txBody>
                    <a:bodyPr/>
                    <a:lstStyle/>
                    <a:p>
                      <a:pPr algn="ctr">
                        <a:lnSpc>
                          <a:spcPct val="110000"/>
                        </a:lnSpc>
                      </a:pPr>
                      <a:r>
                        <a:rPr sz="1125" b="1" i="0">
                          <a:solidFill>
                            <a:srgbClr val="284236"/>
                          </a:solidFill>
                          <a:latin typeface="Georgia"/>
                        </a:rPr>
                        <a:t>2</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12700" cap="flat" cmpd="sng" algn="ctr">
                      <a:solidFill>
                        <a:srgbClr val="F3EEDF"/>
                      </a:solidFill>
                      <a:prstDash val="solid"/>
                    </a:lnB>
                    <a:solidFill>
                      <a:srgbClr val="F3EEDF"/>
                    </a:solidFill>
                  </a:tcPr>
                </a:tc>
                <a:tc>
                  <a:txBody>
                    <a:bodyPr/>
                    <a:lstStyle/>
                    <a:p>
                      <a:pPr algn="ctr">
                        <a:lnSpc>
                          <a:spcPct val="110000"/>
                        </a:lnSpc>
                      </a:pPr>
                      <a:r>
                        <a:rPr sz="1125" b="1" i="0">
                          <a:solidFill>
                            <a:srgbClr val="284236"/>
                          </a:solidFill>
                          <a:latin typeface="Georgia"/>
                        </a:rPr>
                        <a:t>7</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12700" cap="flat" cmpd="sng" algn="ctr">
                      <a:solidFill>
                        <a:srgbClr val="F3EEDF"/>
                      </a:solidFill>
                      <a:prstDash val="solid"/>
                    </a:lnB>
                    <a:solidFill>
                      <a:srgbClr val="F3EEDF"/>
                    </a:solidFill>
                  </a:tcPr>
                </a:tc>
                <a:tc>
                  <a:txBody>
                    <a:bodyPr/>
                    <a:lstStyle/>
                    <a:p>
                      <a:pPr algn="ctr">
                        <a:lnSpc>
                          <a:spcPct val="110000"/>
                        </a:lnSpc>
                      </a:pPr>
                      <a:r>
                        <a:rPr sz="1125" b="1" i="0">
                          <a:solidFill>
                            <a:srgbClr val="284236"/>
                          </a:solidFill>
                          <a:latin typeface="Georgia"/>
                        </a:rPr>
                        <a:t>15</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12700" cap="flat" cmpd="sng" algn="ctr">
                      <a:solidFill>
                        <a:srgbClr val="F3EEDF"/>
                      </a:solidFill>
                      <a:prstDash val="solid"/>
                    </a:lnB>
                    <a:solidFill>
                      <a:srgbClr val="F3EEDF"/>
                    </a:solidFill>
                  </a:tcPr>
                </a:tc>
              </a:tr>
            </a:tbl>
          </a:graphicData>
        </a:graphic>
      </p:graphicFrame>
      <p:sp>
        <p:nvSpPr>
          <p:cNvPr id="15" name="TextBox 14"/>
          <p:cNvSpPr txBox="1"/>
          <p:nvPr/>
        </p:nvSpPr>
        <p:spPr>
          <a:xfrm>
            <a:off x="5715000" y="3676650"/>
            <a:ext cx="5238750" cy="152400"/>
          </a:xfrm>
          <a:prstGeom prst="rect">
            <a:avLst/>
          </a:prstGeom>
          <a:noFill/>
        </p:spPr>
        <p:txBody>
          <a:bodyPr wrap="square" anchor="t" lIns="0" rIns="0" tIns="0" bIns="0">
            <a:noAutofit/>
          </a:bodyPr>
          <a:lstStyle/>
          <a:p>
            <a:pPr algn="l">
              <a:lnSpc>
                <a:spcPct val="120000"/>
              </a:lnSpc>
            </a:pPr>
            <a:r>
              <a:rPr sz="675" b="0" i="0">
                <a:solidFill>
                  <a:srgbClr val="64675E"/>
                </a:solidFill>
                <a:latin typeface="Arial"/>
              </a:rPr>
              <a:t>Abstained: 0 of 15. Accuracy over decided windows: 0.933.</a:t>
            </a:r>
          </a:p>
        </p:txBody>
      </p:sp>
      <p:sp>
        <p:nvSpPr>
          <p:cNvPr id="16" name="Rectangle 15"/>
          <p:cNvSpPr/>
          <p:nvPr/>
        </p:nvSpPr>
        <p:spPr>
          <a:xfrm>
            <a:off x="609600" y="4000500"/>
            <a:ext cx="10972800" cy="1428750"/>
          </a:xfrm>
          <a:prstGeom prst="rect">
            <a:avLst/>
          </a:prstGeom>
          <a:solidFill>
            <a:srgbClr val="E1E6DA"/>
          </a:solidFill>
          <a:ln>
            <a:noFill/>
          </a:ln>
          <a:effectLst/>
        </p:spPr>
        <p:txBody>
          <a:bodyPr rtlCol="0" anchor="ctr"/>
          <a:lstStyle/>
          <a:p>
            <a:pPr algn="ctr"/>
          </a:p>
        </p:txBody>
      </p:sp>
      <p:sp>
        <p:nvSpPr>
          <p:cNvPr id="17" name="Rectangle 16"/>
          <p:cNvSpPr/>
          <p:nvPr/>
        </p:nvSpPr>
        <p:spPr>
          <a:xfrm>
            <a:off x="609600" y="4000500"/>
            <a:ext cx="10972800" cy="19050"/>
          </a:xfrm>
          <a:prstGeom prst="rect">
            <a:avLst/>
          </a:prstGeom>
          <a:solidFill>
            <a:srgbClr val="C45A3B"/>
          </a:solidFill>
          <a:ln>
            <a:noFill/>
          </a:ln>
          <a:effectLst/>
        </p:spPr>
        <p:txBody>
          <a:bodyPr rtlCol="0" anchor="ctr"/>
          <a:lstStyle/>
          <a:p>
            <a:pPr algn="ctr"/>
          </a:p>
        </p:txBody>
      </p:sp>
      <p:sp>
        <p:nvSpPr>
          <p:cNvPr id="18" name="TextBox 17"/>
          <p:cNvSpPr txBox="1"/>
          <p:nvPr/>
        </p:nvSpPr>
        <p:spPr>
          <a:xfrm>
            <a:off x="800100" y="4171950"/>
            <a:ext cx="10477500" cy="190500"/>
          </a:xfrm>
          <a:prstGeom prst="rect">
            <a:avLst/>
          </a:prstGeom>
          <a:noFill/>
        </p:spPr>
        <p:txBody>
          <a:bodyPr wrap="square" anchor="t" lIns="0" rIns="0" tIns="0" bIns="0">
            <a:noAutofit/>
          </a:bodyPr>
          <a:lstStyle/>
          <a:p>
            <a:pPr algn="l">
              <a:lnSpc>
                <a:spcPct val="120000"/>
              </a:lnSpc>
            </a:pPr>
            <a:r>
              <a:rPr sz="675" b="0" i="0" spc="140">
                <a:solidFill>
                  <a:srgbClr val="C45A3B"/>
                </a:solidFill>
                <a:latin typeface="Arial"/>
              </a:rPr>
              <a:t>WHAT THIS NUMBER DOES NOT ESTABLISH</a:t>
            </a:r>
          </a:p>
        </p:txBody>
      </p:sp>
      <p:sp>
        <p:nvSpPr>
          <p:cNvPr id="19" name="TextBox 18"/>
          <p:cNvSpPr txBox="1"/>
          <p:nvPr/>
        </p:nvSpPr>
        <p:spPr>
          <a:xfrm>
            <a:off x="800100" y="4400550"/>
            <a:ext cx="10477500" cy="381000"/>
          </a:xfrm>
          <a:prstGeom prst="rect">
            <a:avLst/>
          </a:prstGeom>
          <a:noFill/>
        </p:spPr>
        <p:txBody>
          <a:bodyPr wrap="square" anchor="t" lIns="0" rIns="0" tIns="0" bIns="0">
            <a:noAutofit/>
          </a:bodyPr>
          <a:lstStyle/>
          <a:p>
            <a:pPr algn="l">
              <a:lnSpc>
                <a:spcPct val="140000"/>
              </a:lnSpc>
            </a:pPr>
            <a:r>
              <a:rPr sz="975" b="0" i="0">
                <a:solidFill>
                  <a:srgbClr val="22241F"/>
                </a:solidFill>
                <a:latin typeface="Arial"/>
              </a:rPr>
              <a:t>Fifteen windows: Locomotion has 2, Resting takes all 6 from one clip, and camera and class travel together. 0.949 is an upper bound on a new recording, not an estimate of it.</a:t>
            </a:r>
          </a:p>
        </p:txBody>
      </p:sp>
      <p:sp>
        <p:nvSpPr>
          <p:cNvPr id="20" name="TextBox 19"/>
          <p:cNvSpPr txBox="1"/>
          <p:nvPr/>
        </p:nvSpPr>
        <p:spPr>
          <a:xfrm>
            <a:off x="800100" y="4876800"/>
            <a:ext cx="10477500" cy="381000"/>
          </a:xfrm>
          <a:prstGeom prst="rect">
            <a:avLst/>
          </a:prstGeom>
          <a:noFill/>
        </p:spPr>
        <p:txBody>
          <a:bodyPr wrap="square" anchor="t" lIns="0" rIns="0" tIns="0" bIns="0">
            <a:noAutofit/>
          </a:bodyPr>
          <a:lstStyle/>
          <a:p>
            <a:pPr algn="l">
              <a:lnSpc>
                <a:spcPct val="135000"/>
              </a:lnSpc>
            </a:pPr>
            <a:r>
              <a:rPr sz="787" b="0" i="0">
                <a:solidFill>
                  <a:srgbClr val="64675E"/>
                </a:solidFill>
                <a:latin typeface="Arial"/>
              </a:rPr>
              <a:t>The one error may be a model miss on a partly hidden animal or an annotation error; the label was not changed after the test was read.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05 / TASK 2 · LABELS</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Task 2: nobody drew a box</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05 / 10</a:t>
            </a:r>
          </a:p>
        </p:txBody>
      </p:sp>
      <p:graphicFrame>
        <p:nvGraphicFramePr>
          <p:cNvPr id="8" name="Table 7"/>
          <p:cNvGraphicFramePr>
            <a:graphicFrameLocks noGrp="1"/>
          </p:cNvGraphicFramePr>
          <p:nvPr/>
        </p:nvGraphicFramePr>
        <p:xfrm>
          <a:off x="609600" y="1333500"/>
          <a:ext cx="6667500" cy="3028950"/>
        </p:xfrm>
        <a:graphic>
          <a:graphicData uri="http://schemas.openxmlformats.org/drawingml/2006/table">
            <a:tbl>
              <a:tblPr/>
              <a:tblGrid>
                <a:gridCol w="2400300"/>
                <a:gridCol w="4267200"/>
              </a:tblGrid>
              <a:tr h="285750">
                <a:tc>
                  <a:txBody>
                    <a:bodyPr/>
                    <a:lstStyle/>
                    <a:p>
                      <a:pPr algn="l">
                        <a:lnSpc>
                          <a:spcPct val="110000"/>
                        </a:lnSpc>
                      </a:pPr>
                      <a:r>
                        <a:rPr sz="600" b="0" i="0">
                          <a:solidFill>
                            <a:srgbClr val="64675E"/>
                          </a:solidFill>
                          <a:latin typeface="Arial"/>
                        </a:rPr>
                        <a:t>METHOD TRIED</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l">
                        <a:lnSpc>
                          <a:spcPct val="110000"/>
                        </a:lnSpc>
                      </a:pPr>
                      <a:r>
                        <a:rPr sz="600" b="0" i="0">
                          <a:solidFill>
                            <a:srgbClr val="64675E"/>
                          </a:solidFill>
                          <a:latin typeface="Arial"/>
                        </a:rPr>
                        <a:t>WHAT IT RETURNED</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r>
              <a:tr h="685800">
                <a:tc>
                  <a:txBody>
                    <a:bodyPr/>
                    <a:lstStyle/>
                    <a:p>
                      <a:pPr algn="l">
                        <a:lnSpc>
                          <a:spcPct val="110000"/>
                        </a:lnSpc>
                      </a:pPr>
                      <a:r>
                        <a:rPr sz="862" b="0" i="0">
                          <a:solidFill>
                            <a:srgbClr val="284236"/>
                          </a:solidFill>
                          <a:latin typeface="Arial"/>
                        </a:rPr>
                        <a:t>COCO YOLO11n, full frame</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862" b="0" i="0">
                          <a:solidFill>
                            <a:srgbClr val="22241F"/>
                          </a:solidFill>
                          <a:latin typeface="Arial"/>
                        </a:rPr>
                        <a:t>Zero detections of the animal. One potted plant at 0.344.</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685800">
                <a:tc>
                  <a:txBody>
                    <a:bodyPr/>
                    <a:lstStyle/>
                    <a:p>
                      <a:pPr algn="l">
                        <a:lnSpc>
                          <a:spcPct val="110000"/>
                        </a:lnSpc>
                      </a:pPr>
                      <a:r>
                        <a:rPr sz="862" b="0" i="0">
                          <a:solidFill>
                            <a:srgbClr val="284236"/>
                          </a:solidFill>
                          <a:latin typeface="Arial"/>
                        </a:rPr>
                        <a:t>Frame differencing, largest blob</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862" b="0" i="0">
                          <a:solidFill>
                            <a:srgbClr val="22241F"/>
                          </a:solidFill>
                          <a:latin typeface="Arial"/>
                        </a:rPr>
                        <a:t>Locks onto swaying foliage, not the animal.</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685800">
                <a:tc>
                  <a:txBody>
                    <a:bodyPr/>
                    <a:lstStyle/>
                    <a:p>
                      <a:pPr algn="l">
                        <a:lnSpc>
                          <a:spcPct val="110000"/>
                        </a:lnSpc>
                      </a:pPr>
                      <a:r>
                        <a:rPr sz="862" b="0" i="0">
                          <a:solidFill>
                            <a:srgbClr val="284236"/>
                          </a:solidFill>
                          <a:latin typeface="Arial"/>
                        </a:rPr>
                        <a:t>Grounding DINO, open vocabulary</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862" b="0" i="0">
                          <a:solidFill>
                            <a:srgbClr val="22241F"/>
                          </a:solidFill>
                          <a:latin typeface="Arial"/>
                        </a:rPr>
                        <a:t>40+ boxes at 0.12; top score 0.535 on empty floor.</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685800">
                <a:tc>
                  <a:txBody>
                    <a:bodyPr/>
                    <a:lstStyle/>
                    <a:p>
                      <a:pPr algn="l">
                        <a:lnSpc>
                          <a:spcPct val="110000"/>
                        </a:lnSpc>
                      </a:pPr>
                      <a:r>
                        <a:rPr sz="862" b="0" i="0">
                          <a:solidFill>
                            <a:srgbClr val="284236"/>
                          </a:solidFill>
                          <a:latin typeface="Arial"/>
                        </a:rPr>
                        <a:t>Per-pixel median background</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l">
                        <a:lnSpc>
                          <a:spcPct val="130000"/>
                        </a:lnSpc>
                      </a:pPr>
                      <a:r>
                        <a:rPr sz="862" b="0" i="0">
                          <a:solidFill>
                            <a:srgbClr val="22241F"/>
                          </a:solidFill>
                          <a:latin typeface="Arial"/>
                        </a:rPr>
                        <a:t>408 boxes kept after a one-second persistence filter.</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bl>
          </a:graphicData>
        </a:graphic>
      </p:graphicFrame>
      <p:pic>
        <p:nvPicPr>
          <p:cNvPr id="9" name="Picture 8" descr="detection.jpg"/>
          <p:cNvPicPr>
            <a:picLocks noChangeAspect="1"/>
          </p:cNvPicPr>
          <p:nvPr/>
        </p:nvPicPr>
        <p:blipFill>
          <a:blip r:embed="rId2"/>
          <a:stretch>
            <a:fillRect/>
          </a:stretch>
        </p:blipFill>
        <p:spPr>
          <a:xfrm>
            <a:off x="7620000" y="1333500"/>
            <a:ext cx="3771900" cy="2514600"/>
          </a:xfrm>
          <a:prstGeom prst="rect">
            <a:avLst/>
          </a:prstGeom>
        </p:spPr>
      </p:pic>
      <p:sp>
        <p:nvSpPr>
          <p:cNvPr id="10" name="TextBox 9"/>
          <p:cNvSpPr txBox="1"/>
          <p:nvPr/>
        </p:nvSpPr>
        <p:spPr>
          <a:xfrm>
            <a:off x="7620000" y="3924300"/>
            <a:ext cx="3771900" cy="323850"/>
          </a:xfrm>
          <a:prstGeom prst="rect">
            <a:avLst/>
          </a:prstGeom>
          <a:noFill/>
        </p:spPr>
        <p:txBody>
          <a:bodyPr wrap="square" anchor="t" lIns="0" rIns="0" tIns="0" bIns="0">
            <a:noAutofit/>
          </a:bodyPr>
          <a:lstStyle/>
          <a:p>
            <a:pPr algn="l">
              <a:lnSpc>
                <a:spcPct val="140000"/>
              </a:lnSpc>
            </a:pPr>
            <a:r>
              <a:rPr sz="562" b="0" i="0" spc="80">
                <a:solidFill>
                  <a:srgbClr val="64675E"/>
                </a:solidFill>
                <a:latin typeface="Arial"/>
              </a:rPr>
              <a:t>YOLO BOX 0.66 · CAMERA 03 · 19 MAY 2026</a:t>
            </a:r>
          </a:p>
          <a:p>
            <a:pPr algn="l">
              <a:lnSpc>
                <a:spcPct val="140000"/>
              </a:lnSpc>
            </a:pPr>
            <a:r>
              <a:rPr sz="562" b="0" i="0" spc="80">
                <a:solidFill>
                  <a:srgbClr val="64675E"/>
                </a:solidFill>
                <a:latin typeface="Arial"/>
              </a:rPr>
              <a:t>Source: </a:t>
            </a:r>
            <a:r>
              <a:rPr sz="487" b="0" i="0" spc="80">
                <a:solidFill>
                  <a:srgbClr val="64675E"/>
                </a:solidFill>
                <a:latin typeface="DejaVu Sans Mono"/>
              </a:rPr>
              <a:t>outputs/detection/heldout.csv</a:t>
            </a:r>
          </a:p>
        </p:txBody>
      </p:sp>
      <p:sp>
        <p:nvSpPr>
          <p:cNvPr id="11" name="TextBox 10"/>
          <p:cNvSpPr txBox="1"/>
          <p:nvPr/>
        </p:nvSpPr>
        <p:spPr>
          <a:xfrm>
            <a:off x="609600" y="4762500"/>
            <a:ext cx="10477500" cy="571500"/>
          </a:xfrm>
          <a:prstGeom prst="rect">
            <a:avLst/>
          </a:prstGeom>
          <a:noFill/>
        </p:spPr>
        <p:txBody>
          <a:bodyPr wrap="square" anchor="t" lIns="0" rIns="0" tIns="0" bIns="0">
            <a:noAutofit/>
          </a:bodyPr>
          <a:lstStyle/>
          <a:p>
            <a:pPr algn="l">
              <a:lnSpc>
                <a:spcPct val="125000"/>
              </a:lnSpc>
            </a:pPr>
            <a:r>
              <a:rPr sz="1575" b="0" i="0">
                <a:solidFill>
                  <a:srgbClr val="284236"/>
                </a:solidFill>
                <a:latin typeface="Georgia"/>
              </a:rPr>
              <a:t>The cameras never move, so each clip supplies its own background.</a:t>
            </a:r>
          </a:p>
        </p:txBody>
      </p:sp>
      <p:sp>
        <p:nvSpPr>
          <p:cNvPr id="12" name="TextBox 11"/>
          <p:cNvSpPr txBox="1"/>
          <p:nvPr/>
        </p:nvSpPr>
        <p:spPr>
          <a:xfrm>
            <a:off x="609600" y="5391150"/>
            <a:ext cx="10001250" cy="381000"/>
          </a:xfrm>
          <a:prstGeom prst="rect">
            <a:avLst/>
          </a:prstGeom>
          <a:noFill/>
        </p:spPr>
        <p:txBody>
          <a:bodyPr wrap="square" anchor="t" lIns="0" rIns="0" tIns="0" bIns="0">
            <a:noAutofit/>
          </a:bodyPr>
          <a:lstStyle/>
          <a:p>
            <a:pPr algn="l">
              <a:lnSpc>
                <a:spcPct val="140000"/>
              </a:lnSpc>
            </a:pPr>
            <a:r>
              <a:rPr sz="787" b="0" i="0">
                <a:solidFill>
                  <a:srgbClr val="22241F"/>
                </a:solidFill>
                <a:latin typeface="Arial"/>
              </a:rPr>
              <a:t>Median frame per clip · per-pixel noise threshold · components in an animal-size band · a box must persist for about a second.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06 / TASK 2 · RESULTS</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Task 2: the loop that learns its own labels</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06 / 10</a:t>
            </a:r>
          </a:p>
        </p:txBody>
      </p:sp>
      <p:sp>
        <p:nvSpPr>
          <p:cNvPr id="8" name="Rectangle 7"/>
          <p:cNvSpPr/>
          <p:nvPr/>
        </p:nvSpPr>
        <p:spPr>
          <a:xfrm>
            <a:off x="609600" y="1676400"/>
            <a:ext cx="10972800" cy="9525"/>
          </a:xfrm>
          <a:prstGeom prst="rect">
            <a:avLst/>
          </a:prstGeom>
          <a:solidFill>
            <a:srgbClr val="64675E"/>
          </a:solidFill>
          <a:ln>
            <a:noFill/>
          </a:ln>
          <a:effectLst/>
        </p:spPr>
        <p:txBody>
          <a:bodyPr rtlCol="0" anchor="ctr"/>
          <a:lstStyle/>
          <a:p>
            <a:pPr algn="ctr"/>
          </a:p>
        </p:txBody>
      </p:sp>
      <p:sp>
        <p:nvSpPr>
          <p:cNvPr id="9" name="Rectangle 8"/>
          <p:cNvSpPr/>
          <p:nvPr/>
        </p:nvSpPr>
        <p:spPr>
          <a:xfrm>
            <a:off x="609600" y="1676400"/>
            <a:ext cx="9525" cy="57150"/>
          </a:xfrm>
          <a:prstGeom prst="rect">
            <a:avLst/>
          </a:prstGeom>
          <a:solidFill>
            <a:srgbClr val="87966F"/>
          </a:solidFill>
          <a:ln>
            <a:noFill/>
          </a:ln>
          <a:effectLst/>
        </p:spPr>
        <p:txBody>
          <a:bodyPr rtlCol="0" anchor="ctr"/>
          <a:lstStyle/>
          <a:p>
            <a:pPr algn="ctr"/>
          </a:p>
        </p:txBody>
      </p:sp>
      <p:sp>
        <p:nvSpPr>
          <p:cNvPr id="10" name="TextBox 9"/>
          <p:cNvSpPr txBox="1"/>
          <p:nvPr/>
        </p:nvSpPr>
        <p:spPr>
          <a:xfrm>
            <a:off x="609600" y="1809750"/>
            <a:ext cx="381000" cy="114300"/>
          </a:xfrm>
          <a:prstGeom prst="rect">
            <a:avLst/>
          </a:prstGeom>
          <a:noFill/>
        </p:spPr>
        <p:txBody>
          <a:bodyPr wrap="square" anchor="t" lIns="0" rIns="0" tIns="0" bIns="0">
            <a:noAutofit/>
          </a:bodyPr>
          <a:lstStyle/>
          <a:p>
            <a:pPr algn="l">
              <a:lnSpc>
                <a:spcPct val="120000"/>
              </a:lnSpc>
            </a:pPr>
            <a:r>
              <a:rPr sz="600" b="0" i="0" spc="140">
                <a:solidFill>
                  <a:srgbClr val="87966F"/>
                </a:solidFill>
                <a:latin typeface="Arial"/>
              </a:rPr>
              <a:t>01</a:t>
            </a:r>
          </a:p>
        </p:txBody>
      </p:sp>
      <p:sp>
        <p:nvSpPr>
          <p:cNvPr id="11" name="TextBox 10"/>
          <p:cNvSpPr txBox="1"/>
          <p:nvPr/>
        </p:nvSpPr>
        <p:spPr>
          <a:xfrm>
            <a:off x="609600" y="1962150"/>
            <a:ext cx="2038350" cy="342900"/>
          </a:xfrm>
          <a:prstGeom prst="rect">
            <a:avLst/>
          </a:prstGeom>
          <a:noFill/>
        </p:spPr>
        <p:txBody>
          <a:bodyPr wrap="square" anchor="t" lIns="0" rIns="0" tIns="0" bIns="0">
            <a:noAutofit/>
          </a:bodyPr>
          <a:lstStyle/>
          <a:p>
            <a:pPr algn="l">
              <a:lnSpc>
                <a:spcPct val="120000"/>
              </a:lnSpc>
            </a:pPr>
            <a:r>
              <a:rPr sz="2250" b="0" i="0">
                <a:solidFill>
                  <a:srgbClr val="284236"/>
                </a:solidFill>
                <a:latin typeface="Georgia"/>
              </a:rPr>
              <a:t>1061</a:t>
            </a:r>
          </a:p>
        </p:txBody>
      </p:sp>
      <p:sp>
        <p:nvSpPr>
          <p:cNvPr id="12" name="TextBox 11"/>
          <p:cNvSpPr txBox="1"/>
          <p:nvPr/>
        </p:nvSpPr>
        <p:spPr>
          <a:xfrm>
            <a:off x="609600" y="2343150"/>
            <a:ext cx="2038350" cy="438150"/>
          </a:xfrm>
          <a:prstGeom prst="rect">
            <a:avLst/>
          </a:prstGeom>
          <a:noFill/>
        </p:spPr>
        <p:txBody>
          <a:bodyPr wrap="square" anchor="t" lIns="0" rIns="0" tIns="0" bIns="0">
            <a:noAutofit/>
          </a:bodyPr>
          <a:lstStyle/>
          <a:p>
            <a:pPr algn="l">
              <a:lnSpc>
                <a:spcPct val="130000"/>
              </a:lnSpc>
            </a:pPr>
            <a:r>
              <a:rPr sz="750" b="0" i="0">
                <a:solidFill>
                  <a:srgbClr val="22241F"/>
                </a:solidFill>
                <a:latin typeface="Arial"/>
              </a:rPr>
              <a:t>frames sampled at 1 fps across 22 clips</a:t>
            </a:r>
          </a:p>
        </p:txBody>
      </p:sp>
      <p:sp>
        <p:nvSpPr>
          <p:cNvPr id="13" name="Rectangle 12"/>
          <p:cNvSpPr/>
          <p:nvPr/>
        </p:nvSpPr>
        <p:spPr>
          <a:xfrm>
            <a:off x="2847975" y="1676400"/>
            <a:ext cx="9525" cy="57150"/>
          </a:xfrm>
          <a:prstGeom prst="rect">
            <a:avLst/>
          </a:prstGeom>
          <a:solidFill>
            <a:srgbClr val="87966F"/>
          </a:solidFill>
          <a:ln>
            <a:noFill/>
          </a:ln>
          <a:effectLst/>
        </p:spPr>
        <p:txBody>
          <a:bodyPr rtlCol="0" anchor="ctr"/>
          <a:lstStyle/>
          <a:p>
            <a:pPr algn="ctr"/>
          </a:p>
        </p:txBody>
      </p:sp>
      <p:sp>
        <p:nvSpPr>
          <p:cNvPr id="14" name="TextBox 13"/>
          <p:cNvSpPr txBox="1"/>
          <p:nvPr/>
        </p:nvSpPr>
        <p:spPr>
          <a:xfrm>
            <a:off x="2847975" y="1809750"/>
            <a:ext cx="381000" cy="114300"/>
          </a:xfrm>
          <a:prstGeom prst="rect">
            <a:avLst/>
          </a:prstGeom>
          <a:noFill/>
        </p:spPr>
        <p:txBody>
          <a:bodyPr wrap="square" anchor="t" lIns="0" rIns="0" tIns="0" bIns="0">
            <a:noAutofit/>
          </a:bodyPr>
          <a:lstStyle/>
          <a:p>
            <a:pPr algn="l">
              <a:lnSpc>
                <a:spcPct val="120000"/>
              </a:lnSpc>
            </a:pPr>
            <a:r>
              <a:rPr sz="600" b="0" i="0" spc="140">
                <a:solidFill>
                  <a:srgbClr val="87966F"/>
                </a:solidFill>
                <a:latin typeface="Arial"/>
              </a:rPr>
              <a:t>02</a:t>
            </a:r>
          </a:p>
        </p:txBody>
      </p:sp>
      <p:sp>
        <p:nvSpPr>
          <p:cNvPr id="15" name="TextBox 14"/>
          <p:cNvSpPr txBox="1"/>
          <p:nvPr/>
        </p:nvSpPr>
        <p:spPr>
          <a:xfrm>
            <a:off x="2847975" y="1962150"/>
            <a:ext cx="2038350" cy="342900"/>
          </a:xfrm>
          <a:prstGeom prst="rect">
            <a:avLst/>
          </a:prstGeom>
          <a:noFill/>
        </p:spPr>
        <p:txBody>
          <a:bodyPr wrap="square" anchor="t" lIns="0" rIns="0" tIns="0" bIns="0">
            <a:noAutofit/>
          </a:bodyPr>
          <a:lstStyle/>
          <a:p>
            <a:pPr algn="l">
              <a:lnSpc>
                <a:spcPct val="120000"/>
              </a:lnSpc>
            </a:pPr>
            <a:r>
              <a:rPr sz="2250" b="0" i="0">
                <a:solidFill>
                  <a:srgbClr val="284236"/>
                </a:solidFill>
                <a:latin typeface="Georgia"/>
              </a:rPr>
              <a:t>470</a:t>
            </a:r>
          </a:p>
        </p:txBody>
      </p:sp>
      <p:sp>
        <p:nvSpPr>
          <p:cNvPr id="16" name="TextBox 15"/>
          <p:cNvSpPr txBox="1"/>
          <p:nvPr/>
        </p:nvSpPr>
        <p:spPr>
          <a:xfrm>
            <a:off x="2847975" y="2343150"/>
            <a:ext cx="2038350" cy="438150"/>
          </a:xfrm>
          <a:prstGeom prst="rect">
            <a:avLst/>
          </a:prstGeom>
          <a:noFill/>
        </p:spPr>
        <p:txBody>
          <a:bodyPr wrap="square" anchor="t" lIns="0" rIns="0" tIns="0" bIns="0">
            <a:noAutofit/>
          </a:bodyPr>
          <a:lstStyle/>
          <a:p>
            <a:pPr algn="l">
              <a:lnSpc>
                <a:spcPct val="130000"/>
              </a:lnSpc>
            </a:pPr>
            <a:r>
              <a:rPr sz="750" b="0" i="0">
                <a:solidFill>
                  <a:srgbClr val="22241F"/>
                </a:solidFill>
                <a:latin typeface="Arial"/>
              </a:rPr>
              <a:t>candidate boxes from the background model</a:t>
            </a:r>
          </a:p>
        </p:txBody>
      </p:sp>
      <p:sp>
        <p:nvSpPr>
          <p:cNvPr id="17" name="Rectangle 16"/>
          <p:cNvSpPr/>
          <p:nvPr/>
        </p:nvSpPr>
        <p:spPr>
          <a:xfrm>
            <a:off x="5086350" y="1676400"/>
            <a:ext cx="9525" cy="57150"/>
          </a:xfrm>
          <a:prstGeom prst="rect">
            <a:avLst/>
          </a:prstGeom>
          <a:solidFill>
            <a:srgbClr val="87966F"/>
          </a:solidFill>
          <a:ln>
            <a:noFill/>
          </a:ln>
          <a:effectLst/>
        </p:spPr>
        <p:txBody>
          <a:bodyPr rtlCol="0" anchor="ctr"/>
          <a:lstStyle/>
          <a:p>
            <a:pPr algn="ctr"/>
          </a:p>
        </p:txBody>
      </p:sp>
      <p:sp>
        <p:nvSpPr>
          <p:cNvPr id="18" name="TextBox 17"/>
          <p:cNvSpPr txBox="1"/>
          <p:nvPr/>
        </p:nvSpPr>
        <p:spPr>
          <a:xfrm>
            <a:off x="5086350" y="1809750"/>
            <a:ext cx="381000" cy="114300"/>
          </a:xfrm>
          <a:prstGeom prst="rect">
            <a:avLst/>
          </a:prstGeom>
          <a:noFill/>
        </p:spPr>
        <p:txBody>
          <a:bodyPr wrap="square" anchor="t" lIns="0" rIns="0" tIns="0" bIns="0">
            <a:noAutofit/>
          </a:bodyPr>
          <a:lstStyle/>
          <a:p>
            <a:pPr algn="l">
              <a:lnSpc>
                <a:spcPct val="120000"/>
              </a:lnSpc>
            </a:pPr>
            <a:r>
              <a:rPr sz="600" b="0" i="0" spc="140">
                <a:solidFill>
                  <a:srgbClr val="87966F"/>
                </a:solidFill>
                <a:latin typeface="Arial"/>
              </a:rPr>
              <a:t>03</a:t>
            </a:r>
          </a:p>
        </p:txBody>
      </p:sp>
      <p:sp>
        <p:nvSpPr>
          <p:cNvPr id="19" name="TextBox 18"/>
          <p:cNvSpPr txBox="1"/>
          <p:nvPr/>
        </p:nvSpPr>
        <p:spPr>
          <a:xfrm>
            <a:off x="5086350" y="1962150"/>
            <a:ext cx="2038350" cy="342900"/>
          </a:xfrm>
          <a:prstGeom prst="rect">
            <a:avLst/>
          </a:prstGeom>
          <a:noFill/>
        </p:spPr>
        <p:txBody>
          <a:bodyPr wrap="square" anchor="t" lIns="0" rIns="0" tIns="0" bIns="0">
            <a:noAutofit/>
          </a:bodyPr>
          <a:lstStyle/>
          <a:p>
            <a:pPr algn="l">
              <a:lnSpc>
                <a:spcPct val="120000"/>
              </a:lnSpc>
            </a:pPr>
            <a:r>
              <a:rPr sz="2250" b="0" i="0">
                <a:solidFill>
                  <a:srgbClr val="284236"/>
                </a:solidFill>
                <a:latin typeface="Georgia"/>
              </a:rPr>
              <a:t>408</a:t>
            </a:r>
          </a:p>
        </p:txBody>
      </p:sp>
      <p:sp>
        <p:nvSpPr>
          <p:cNvPr id="20" name="TextBox 19"/>
          <p:cNvSpPr txBox="1"/>
          <p:nvPr/>
        </p:nvSpPr>
        <p:spPr>
          <a:xfrm>
            <a:off x="5086350" y="2343150"/>
            <a:ext cx="2038350" cy="438150"/>
          </a:xfrm>
          <a:prstGeom prst="rect">
            <a:avLst/>
          </a:prstGeom>
          <a:noFill/>
        </p:spPr>
        <p:txBody>
          <a:bodyPr wrap="square" anchor="t" lIns="0" rIns="0" tIns="0" bIns="0">
            <a:noAutofit/>
          </a:bodyPr>
          <a:lstStyle/>
          <a:p>
            <a:pPr algn="l">
              <a:lnSpc>
                <a:spcPct val="130000"/>
              </a:lnSpc>
            </a:pPr>
            <a:r>
              <a:rPr sz="750" b="0" i="0">
                <a:solidFill>
                  <a:srgbClr val="22241F"/>
                </a:solidFill>
                <a:latin typeface="Arial"/>
              </a:rPr>
              <a:t>kept after the one-second persistence filter</a:t>
            </a:r>
          </a:p>
        </p:txBody>
      </p:sp>
      <p:sp>
        <p:nvSpPr>
          <p:cNvPr id="21" name="Rectangle 20"/>
          <p:cNvSpPr/>
          <p:nvPr/>
        </p:nvSpPr>
        <p:spPr>
          <a:xfrm>
            <a:off x="7324725" y="1676400"/>
            <a:ext cx="9525" cy="57150"/>
          </a:xfrm>
          <a:prstGeom prst="rect">
            <a:avLst/>
          </a:prstGeom>
          <a:solidFill>
            <a:srgbClr val="87966F"/>
          </a:solidFill>
          <a:ln>
            <a:noFill/>
          </a:ln>
          <a:effectLst/>
        </p:spPr>
        <p:txBody>
          <a:bodyPr rtlCol="0" anchor="ctr"/>
          <a:lstStyle/>
          <a:p>
            <a:pPr algn="ctr"/>
          </a:p>
        </p:txBody>
      </p:sp>
      <p:sp>
        <p:nvSpPr>
          <p:cNvPr id="22" name="TextBox 21"/>
          <p:cNvSpPr txBox="1"/>
          <p:nvPr/>
        </p:nvSpPr>
        <p:spPr>
          <a:xfrm>
            <a:off x="7324725" y="1809750"/>
            <a:ext cx="381000" cy="114300"/>
          </a:xfrm>
          <a:prstGeom prst="rect">
            <a:avLst/>
          </a:prstGeom>
          <a:noFill/>
        </p:spPr>
        <p:txBody>
          <a:bodyPr wrap="square" anchor="t" lIns="0" rIns="0" tIns="0" bIns="0">
            <a:noAutofit/>
          </a:bodyPr>
          <a:lstStyle/>
          <a:p>
            <a:pPr algn="l">
              <a:lnSpc>
                <a:spcPct val="120000"/>
              </a:lnSpc>
            </a:pPr>
            <a:r>
              <a:rPr sz="600" b="0" i="0" spc="140">
                <a:solidFill>
                  <a:srgbClr val="87966F"/>
                </a:solidFill>
                <a:latin typeface="Arial"/>
              </a:rPr>
              <a:t>04</a:t>
            </a:r>
          </a:p>
        </p:txBody>
      </p:sp>
      <p:sp>
        <p:nvSpPr>
          <p:cNvPr id="23" name="TextBox 22"/>
          <p:cNvSpPr txBox="1"/>
          <p:nvPr/>
        </p:nvSpPr>
        <p:spPr>
          <a:xfrm>
            <a:off x="7324725" y="1962150"/>
            <a:ext cx="2038350" cy="342900"/>
          </a:xfrm>
          <a:prstGeom prst="rect">
            <a:avLst/>
          </a:prstGeom>
          <a:noFill/>
        </p:spPr>
        <p:txBody>
          <a:bodyPr wrap="square" anchor="t" lIns="0" rIns="0" tIns="0" bIns="0">
            <a:noAutofit/>
          </a:bodyPr>
          <a:lstStyle/>
          <a:p>
            <a:pPr algn="l">
              <a:lnSpc>
                <a:spcPct val="120000"/>
              </a:lnSpc>
            </a:pPr>
            <a:r>
              <a:rPr sz="2250" b="0" i="0">
                <a:solidFill>
                  <a:srgbClr val="284236"/>
                </a:solidFill>
                <a:latin typeface="Georgia"/>
              </a:rPr>
              <a:t>116</a:t>
            </a:r>
          </a:p>
        </p:txBody>
      </p:sp>
      <p:sp>
        <p:nvSpPr>
          <p:cNvPr id="24" name="TextBox 23"/>
          <p:cNvSpPr txBox="1"/>
          <p:nvPr/>
        </p:nvSpPr>
        <p:spPr>
          <a:xfrm>
            <a:off x="7324725" y="2343150"/>
            <a:ext cx="2038350" cy="438150"/>
          </a:xfrm>
          <a:prstGeom prst="rect">
            <a:avLst/>
          </a:prstGeom>
          <a:noFill/>
        </p:spPr>
        <p:txBody>
          <a:bodyPr wrap="square" anchor="t" lIns="0" rIns="0" tIns="0" bIns="0">
            <a:noAutofit/>
          </a:bodyPr>
          <a:lstStyle/>
          <a:p>
            <a:pPr algn="l">
              <a:lnSpc>
                <a:spcPct val="130000"/>
              </a:lnSpc>
            </a:pPr>
            <a:r>
              <a:rPr sz="750" b="0" i="0">
                <a:solidFill>
                  <a:srgbClr val="22241F"/>
                </a:solidFill>
                <a:latin typeface="Arial"/>
              </a:rPr>
              <a:t>boxes audited; 113 were on the animal</a:t>
            </a:r>
          </a:p>
        </p:txBody>
      </p:sp>
      <p:sp>
        <p:nvSpPr>
          <p:cNvPr id="25" name="Rectangle 24"/>
          <p:cNvSpPr/>
          <p:nvPr/>
        </p:nvSpPr>
        <p:spPr>
          <a:xfrm>
            <a:off x="9563100" y="1676400"/>
            <a:ext cx="9525" cy="57150"/>
          </a:xfrm>
          <a:prstGeom prst="rect">
            <a:avLst/>
          </a:prstGeom>
          <a:solidFill>
            <a:srgbClr val="87966F"/>
          </a:solidFill>
          <a:ln>
            <a:noFill/>
          </a:ln>
          <a:effectLst/>
        </p:spPr>
        <p:txBody>
          <a:bodyPr rtlCol="0" anchor="ctr"/>
          <a:lstStyle/>
          <a:p>
            <a:pPr algn="ctr"/>
          </a:p>
        </p:txBody>
      </p:sp>
      <p:sp>
        <p:nvSpPr>
          <p:cNvPr id="26" name="TextBox 25"/>
          <p:cNvSpPr txBox="1"/>
          <p:nvPr/>
        </p:nvSpPr>
        <p:spPr>
          <a:xfrm>
            <a:off x="9563100" y="1809750"/>
            <a:ext cx="381000" cy="114300"/>
          </a:xfrm>
          <a:prstGeom prst="rect">
            <a:avLst/>
          </a:prstGeom>
          <a:noFill/>
        </p:spPr>
        <p:txBody>
          <a:bodyPr wrap="square" anchor="t" lIns="0" rIns="0" tIns="0" bIns="0">
            <a:noAutofit/>
          </a:bodyPr>
          <a:lstStyle/>
          <a:p>
            <a:pPr algn="l">
              <a:lnSpc>
                <a:spcPct val="120000"/>
              </a:lnSpc>
            </a:pPr>
            <a:r>
              <a:rPr sz="600" b="0" i="0" spc="140">
                <a:solidFill>
                  <a:srgbClr val="87966F"/>
                </a:solidFill>
                <a:latin typeface="Arial"/>
              </a:rPr>
              <a:t>05</a:t>
            </a:r>
          </a:p>
        </p:txBody>
      </p:sp>
      <p:sp>
        <p:nvSpPr>
          <p:cNvPr id="27" name="TextBox 26"/>
          <p:cNvSpPr txBox="1"/>
          <p:nvPr/>
        </p:nvSpPr>
        <p:spPr>
          <a:xfrm>
            <a:off x="9563100" y="1962150"/>
            <a:ext cx="2038350" cy="342900"/>
          </a:xfrm>
          <a:prstGeom prst="rect">
            <a:avLst/>
          </a:prstGeom>
          <a:noFill/>
        </p:spPr>
        <p:txBody>
          <a:bodyPr wrap="square" anchor="t" lIns="0" rIns="0" tIns="0" bIns="0">
            <a:noAutofit/>
          </a:bodyPr>
          <a:lstStyle/>
          <a:p>
            <a:pPr algn="l">
              <a:lnSpc>
                <a:spcPct val="120000"/>
              </a:lnSpc>
            </a:pPr>
            <a:r>
              <a:rPr sz="2250" b="0" i="0">
                <a:solidFill>
                  <a:srgbClr val="284236"/>
                </a:solidFill>
                <a:latin typeface="Georgia"/>
              </a:rPr>
              <a:t>0.537</a:t>
            </a:r>
          </a:p>
        </p:txBody>
      </p:sp>
      <p:sp>
        <p:nvSpPr>
          <p:cNvPr id="28" name="TextBox 27"/>
          <p:cNvSpPr txBox="1"/>
          <p:nvPr/>
        </p:nvSpPr>
        <p:spPr>
          <a:xfrm>
            <a:off x="9563100" y="2343150"/>
            <a:ext cx="2038350" cy="438150"/>
          </a:xfrm>
          <a:prstGeom prst="rect">
            <a:avLst/>
          </a:prstGeom>
          <a:noFill/>
        </p:spPr>
        <p:txBody>
          <a:bodyPr wrap="square" anchor="t" lIns="0" rIns="0" tIns="0" bIns="0">
            <a:noAutofit/>
          </a:bodyPr>
          <a:lstStyle/>
          <a:p>
            <a:pPr algn="l">
              <a:lnSpc>
                <a:spcPct val="130000"/>
              </a:lnSpc>
            </a:pPr>
            <a:r>
              <a:rPr sz="750" b="0" i="0">
                <a:solidFill>
                  <a:srgbClr val="22241F"/>
                </a:solidFill>
                <a:latin typeface="Arial"/>
              </a:rPr>
              <a:t>YOLO round 1 mAP50; round 2 self-trains</a:t>
            </a:r>
          </a:p>
        </p:txBody>
      </p:sp>
      <p:sp>
        <p:nvSpPr>
          <p:cNvPr id="29" name="Rectangle 28"/>
          <p:cNvSpPr/>
          <p:nvPr/>
        </p:nvSpPr>
        <p:spPr>
          <a:xfrm>
            <a:off x="609600" y="3048000"/>
            <a:ext cx="10972800" cy="9525"/>
          </a:xfrm>
          <a:prstGeom prst="rect">
            <a:avLst/>
          </a:prstGeom>
          <a:solidFill>
            <a:srgbClr val="64675E"/>
          </a:solidFill>
          <a:ln>
            <a:noFill/>
          </a:ln>
          <a:effectLst/>
        </p:spPr>
        <p:txBody>
          <a:bodyPr rtlCol="0" anchor="ctr"/>
          <a:lstStyle/>
          <a:p>
            <a:pPr algn="ctr"/>
          </a:p>
        </p:txBody>
      </p:sp>
      <p:sp>
        <p:nvSpPr>
          <p:cNvPr id="30" name="TextBox 29"/>
          <p:cNvSpPr txBox="1"/>
          <p:nvPr/>
        </p:nvSpPr>
        <p:spPr>
          <a:xfrm>
            <a:off x="609600" y="3257550"/>
            <a:ext cx="3238500" cy="495300"/>
          </a:xfrm>
          <a:prstGeom prst="rect">
            <a:avLst/>
          </a:prstGeom>
          <a:noFill/>
        </p:spPr>
        <p:txBody>
          <a:bodyPr wrap="square" anchor="t" lIns="0" rIns="0" tIns="0" bIns="0">
            <a:noAutofit/>
          </a:bodyPr>
          <a:lstStyle/>
          <a:p>
            <a:pPr algn="l">
              <a:lnSpc>
                <a:spcPct val="120000"/>
              </a:lnSpc>
            </a:pPr>
            <a:r>
              <a:rPr sz="3000" b="0" i="0">
                <a:solidFill>
                  <a:srgbClr val="C45A3B"/>
                </a:solidFill>
                <a:latin typeface="Georgia"/>
              </a:rPr>
              <a:t>0.499</a:t>
            </a:r>
          </a:p>
        </p:txBody>
      </p:sp>
      <p:sp>
        <p:nvSpPr>
          <p:cNvPr id="31" name="TextBox 30"/>
          <p:cNvSpPr txBox="1"/>
          <p:nvPr/>
        </p:nvSpPr>
        <p:spPr>
          <a:xfrm>
            <a:off x="609600" y="3790950"/>
            <a:ext cx="3048000" cy="419100"/>
          </a:xfrm>
          <a:prstGeom prst="rect">
            <a:avLst/>
          </a:prstGeom>
          <a:noFill/>
        </p:spPr>
        <p:txBody>
          <a:bodyPr wrap="square" anchor="t" lIns="0" rIns="0" tIns="0" bIns="0">
            <a:noAutofit/>
          </a:bodyPr>
          <a:lstStyle/>
          <a:p>
            <a:pPr algn="l">
              <a:lnSpc>
                <a:spcPct val="130000"/>
              </a:lnSpc>
            </a:pPr>
            <a:r>
              <a:rPr sz="825" b="0" i="0">
                <a:solidFill>
                  <a:srgbClr val="22241F"/>
                </a:solidFill>
                <a:latin typeface="Arial"/>
              </a:rPr>
              <a:t>mAP50 on untouched validation after self-training</a:t>
            </a:r>
          </a:p>
        </p:txBody>
      </p:sp>
      <p:sp>
        <p:nvSpPr>
          <p:cNvPr id="32" name="TextBox 31"/>
          <p:cNvSpPr txBox="1"/>
          <p:nvPr/>
        </p:nvSpPr>
        <p:spPr>
          <a:xfrm>
            <a:off x="4343400" y="3257550"/>
            <a:ext cx="3238500" cy="495300"/>
          </a:xfrm>
          <a:prstGeom prst="rect">
            <a:avLst/>
          </a:prstGeom>
          <a:noFill/>
        </p:spPr>
        <p:txBody>
          <a:bodyPr wrap="square" anchor="t" lIns="0" rIns="0" tIns="0" bIns="0">
            <a:noAutofit/>
          </a:bodyPr>
          <a:lstStyle/>
          <a:p>
            <a:pPr algn="l">
              <a:lnSpc>
                <a:spcPct val="120000"/>
              </a:lnSpc>
            </a:pPr>
            <a:r>
              <a:rPr sz="3000" b="0" i="0">
                <a:solidFill>
                  <a:srgbClr val="C45A3B"/>
                </a:solidFill>
                <a:latin typeface="Georgia"/>
              </a:rPr>
              <a:t>59%</a:t>
            </a:r>
          </a:p>
        </p:txBody>
      </p:sp>
      <p:sp>
        <p:nvSpPr>
          <p:cNvPr id="33" name="TextBox 32"/>
          <p:cNvSpPr txBox="1"/>
          <p:nvPr/>
        </p:nvSpPr>
        <p:spPr>
          <a:xfrm>
            <a:off x="4343400" y="3790950"/>
            <a:ext cx="3048000" cy="419100"/>
          </a:xfrm>
          <a:prstGeom prst="rect">
            <a:avLst/>
          </a:prstGeom>
          <a:noFill/>
        </p:spPr>
        <p:txBody>
          <a:bodyPr wrap="square" anchor="t" lIns="0" rIns="0" tIns="0" bIns="0">
            <a:noAutofit/>
          </a:bodyPr>
          <a:lstStyle/>
          <a:p>
            <a:pPr algn="l">
              <a:lnSpc>
                <a:spcPct val="130000"/>
              </a:lnSpc>
            </a:pPr>
            <a:r>
              <a:rPr sz="825" b="0" i="0">
                <a:solidFill>
                  <a:srgbClr val="22241F"/>
                </a:solidFill>
                <a:latin typeface="Arial"/>
              </a:rPr>
              <a:t>of held-out frames fire at confidence 0.25</a:t>
            </a:r>
          </a:p>
        </p:txBody>
      </p:sp>
      <p:sp>
        <p:nvSpPr>
          <p:cNvPr id="34" name="TextBox 33"/>
          <p:cNvSpPr txBox="1"/>
          <p:nvPr/>
        </p:nvSpPr>
        <p:spPr>
          <a:xfrm>
            <a:off x="8077200" y="3257550"/>
            <a:ext cx="3238500" cy="495300"/>
          </a:xfrm>
          <a:prstGeom prst="rect">
            <a:avLst/>
          </a:prstGeom>
          <a:noFill/>
        </p:spPr>
        <p:txBody>
          <a:bodyPr wrap="square" anchor="t" lIns="0" rIns="0" tIns="0" bIns="0">
            <a:noAutofit/>
          </a:bodyPr>
          <a:lstStyle/>
          <a:p>
            <a:pPr algn="l">
              <a:lnSpc>
                <a:spcPct val="120000"/>
              </a:lnSpc>
            </a:pPr>
            <a:r>
              <a:rPr sz="3000" b="0" i="0">
                <a:solidFill>
                  <a:srgbClr val="C45A3B"/>
                </a:solidFill>
                <a:latin typeface="Georgia"/>
              </a:rPr>
              <a:t>5 / 10</a:t>
            </a:r>
          </a:p>
        </p:txBody>
      </p:sp>
      <p:sp>
        <p:nvSpPr>
          <p:cNvPr id="35" name="TextBox 34"/>
          <p:cNvSpPr txBox="1"/>
          <p:nvPr/>
        </p:nvSpPr>
        <p:spPr>
          <a:xfrm>
            <a:off x="8077200" y="3790950"/>
            <a:ext cx="3048000" cy="419100"/>
          </a:xfrm>
          <a:prstGeom prst="rect">
            <a:avLst/>
          </a:prstGeom>
          <a:noFill/>
        </p:spPr>
        <p:txBody>
          <a:bodyPr wrap="square" anchor="t" lIns="0" rIns="0" tIns="0" bIns="0">
            <a:noAutofit/>
          </a:bodyPr>
          <a:lstStyle/>
          <a:p>
            <a:pPr algn="l">
              <a:lnSpc>
                <a:spcPct val="130000"/>
              </a:lnSpc>
            </a:pPr>
            <a:r>
              <a:rPr sz="825" b="0" i="0">
                <a:solidFill>
                  <a:srgbClr val="22241F"/>
                </a:solidFill>
                <a:latin typeface="Arial"/>
              </a:rPr>
              <a:t>audited held-out boxes were on the animal</a:t>
            </a:r>
          </a:p>
        </p:txBody>
      </p:sp>
      <p:sp>
        <p:nvSpPr>
          <p:cNvPr id="36" name="TextBox 35"/>
          <p:cNvSpPr txBox="1"/>
          <p:nvPr/>
        </p:nvSpPr>
        <p:spPr>
          <a:xfrm>
            <a:off x="609600" y="4762500"/>
            <a:ext cx="10972800" cy="152400"/>
          </a:xfrm>
          <a:prstGeom prst="rect">
            <a:avLst/>
          </a:prstGeom>
          <a:noFill/>
        </p:spPr>
        <p:txBody>
          <a:bodyPr wrap="square" anchor="t" lIns="0" rIns="0" tIns="0" bIns="0">
            <a:noAutofit/>
          </a:bodyPr>
          <a:lstStyle/>
          <a:p>
            <a:pPr algn="l">
              <a:lnSpc>
                <a:spcPct val="120000"/>
              </a:lnSpc>
            </a:pPr>
            <a:r>
              <a:rPr sz="600" b="0" i="0" spc="140">
                <a:solidFill>
                  <a:srgbClr val="64675E"/>
                </a:solidFill>
                <a:latin typeface="Arial"/>
              </a:rPr>
              <a:t>ROUND 2 ON ITS OWN VALIDATION: 0.774</a:t>
            </a:r>
          </a:p>
        </p:txBody>
      </p:sp>
      <p:sp>
        <p:nvSpPr>
          <p:cNvPr id="37" name="TextBox 36"/>
          <p:cNvSpPr txBox="1"/>
          <p:nvPr/>
        </p:nvSpPr>
        <p:spPr>
          <a:xfrm>
            <a:off x="609600" y="4972050"/>
            <a:ext cx="10972800" cy="171450"/>
          </a:xfrm>
          <a:prstGeom prst="rect">
            <a:avLst/>
          </a:prstGeom>
          <a:noFill/>
        </p:spPr>
        <p:txBody>
          <a:bodyPr wrap="square" anchor="t" lIns="0" rIns="0" tIns="0" bIns="0">
            <a:noAutofit/>
          </a:bodyPr>
          <a:lstStyle/>
          <a:p>
            <a:pPr algn="l">
              <a:lnSpc>
                <a:spcPct val="120000"/>
              </a:lnSpc>
            </a:pPr>
            <a:r>
              <a:rPr sz="750" b="0" i="0">
                <a:solidFill>
                  <a:srgbClr val="64675E"/>
                </a:solidFill>
                <a:latin typeface="Arial"/>
              </a:rPr>
              <a:t>That number is not comparable: 115 of round 2's validation labels were partly written by round 1.</a:t>
            </a:r>
          </a:p>
        </p:txBody>
      </p:sp>
      <p:sp>
        <p:nvSpPr>
          <p:cNvPr id="38" name="Rectangle 37"/>
          <p:cNvSpPr/>
          <p:nvPr/>
        </p:nvSpPr>
        <p:spPr>
          <a:xfrm>
            <a:off x="609600" y="5486400"/>
            <a:ext cx="685800" cy="19050"/>
          </a:xfrm>
          <a:prstGeom prst="rect">
            <a:avLst/>
          </a:prstGeom>
          <a:solidFill>
            <a:srgbClr val="C45A3B"/>
          </a:solidFill>
          <a:ln>
            <a:noFill/>
          </a:ln>
          <a:effectLst/>
        </p:spPr>
        <p:txBody>
          <a:bodyPr rtlCol="0" anchor="ctr"/>
          <a:lstStyle/>
          <a:p>
            <a:pPr algn="ctr"/>
          </a:p>
        </p:txBody>
      </p:sp>
      <p:sp>
        <p:nvSpPr>
          <p:cNvPr id="39" name="TextBox 38"/>
          <p:cNvSpPr txBox="1"/>
          <p:nvPr/>
        </p:nvSpPr>
        <p:spPr>
          <a:xfrm>
            <a:off x="609600" y="5657850"/>
            <a:ext cx="10477500" cy="381000"/>
          </a:xfrm>
          <a:prstGeom prst="rect">
            <a:avLst/>
          </a:prstGeom>
          <a:noFill/>
        </p:spPr>
        <p:txBody>
          <a:bodyPr wrap="square" anchor="t" lIns="0" rIns="0" tIns="0" bIns="0">
            <a:noAutofit/>
          </a:bodyPr>
          <a:lstStyle/>
          <a:p>
            <a:pPr algn="l">
              <a:lnSpc>
                <a:spcPct val="120000"/>
              </a:lnSpc>
            </a:pPr>
            <a:r>
              <a:rPr sz="1650" b="0" i="0">
                <a:solidFill>
                  <a:srgbClr val="C45A3B"/>
                </a:solidFill>
                <a:latin typeface="Georgia"/>
              </a:rPr>
              <a:t>No person drew a bounding box at any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07 / TASK 3 · FEATURES</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Task 3: four features from a silhouette</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07 / 10</a:t>
            </a:r>
          </a:p>
        </p:txBody>
      </p:sp>
      <p:graphicFrame>
        <p:nvGraphicFramePr>
          <p:cNvPr id="8" name="Table 7"/>
          <p:cNvGraphicFramePr>
            <a:graphicFrameLocks noGrp="1"/>
          </p:cNvGraphicFramePr>
          <p:nvPr/>
        </p:nvGraphicFramePr>
        <p:xfrm>
          <a:off x="609600" y="1428750"/>
          <a:ext cx="7048500" cy="2381250"/>
        </p:xfrm>
        <a:graphic>
          <a:graphicData uri="http://schemas.openxmlformats.org/drawingml/2006/table">
            <a:tbl>
              <a:tblPr/>
              <a:tblGrid>
                <a:gridCol w="2381250"/>
                <a:gridCol w="1333500"/>
                <a:gridCol w="1666875"/>
                <a:gridCol w="1666875"/>
              </a:tblGrid>
              <a:tr h="323850">
                <a:tc>
                  <a:txBody>
                    <a:bodyPr/>
                    <a:lstStyle/>
                    <a:p>
                      <a:pPr algn="l">
                        <a:lnSpc>
                          <a:spcPct val="110000"/>
                        </a:lnSpc>
                      </a:pPr>
                      <a:r>
                        <a:rPr sz="600" b="0" i="0">
                          <a:solidFill>
                            <a:srgbClr val="64675E"/>
                          </a:solidFill>
                          <a:latin typeface="Arial"/>
                        </a:rPr>
                        <a:t>FEATURE · MEDIAN PER CLASS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ctr">
                        <a:lnSpc>
                          <a:spcPct val="110000"/>
                        </a:lnSpc>
                      </a:pPr>
                      <a:r>
                        <a:rPr sz="600" b="0" i="0">
                          <a:solidFill>
                            <a:srgbClr val="64675E"/>
                          </a:solidFill>
                          <a:latin typeface="Arial"/>
                        </a:rPr>
                        <a:t>EATING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ctr">
                        <a:lnSpc>
                          <a:spcPct val="110000"/>
                        </a:lnSpc>
                      </a:pPr>
                      <a:r>
                        <a:rPr sz="600" b="0" i="0">
                          <a:solidFill>
                            <a:srgbClr val="64675E"/>
                          </a:solidFill>
                          <a:latin typeface="Arial"/>
                        </a:rPr>
                        <a:t>LOCOMOTION</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c>
                  <a:txBody>
                    <a:bodyPr/>
                    <a:lstStyle/>
                    <a:p>
                      <a:pPr algn="ctr">
                        <a:lnSpc>
                          <a:spcPct val="110000"/>
                        </a:lnSpc>
                      </a:pPr>
                      <a:r>
                        <a:rPr sz="600" b="0" i="0">
                          <a:solidFill>
                            <a:srgbClr val="64675E"/>
                          </a:solidFill>
                          <a:latin typeface="Arial"/>
                        </a:rPr>
                        <a:t>RESTING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284236"/>
                      </a:solidFill>
                      <a:prstDash val="solid"/>
                    </a:lnB>
                    <a:solidFill>
                      <a:srgbClr val="F3EEDF"/>
                    </a:solidFill>
                  </a:tcPr>
                </a:tc>
              </a:tr>
              <a:tr h="514350">
                <a:tc>
                  <a:txBody>
                    <a:bodyPr/>
                    <a:lstStyle/>
                    <a:p>
                      <a:pPr algn="l">
                        <a:lnSpc>
                          <a:spcPct val="110000"/>
                        </a:lnSpc>
                      </a:pPr>
                      <a:r>
                        <a:rPr sz="862" b="0" i="0">
                          <a:solidFill>
                            <a:srgbClr val="22241F"/>
                          </a:solidFill>
                          <a:latin typeface="Arial"/>
                        </a:rPr>
                        <a:t>Body angle (deg)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115°</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88°</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154°</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514350">
                <a:tc>
                  <a:txBody>
                    <a:bodyPr/>
                    <a:lstStyle/>
                    <a:p>
                      <a:pPr algn="l">
                        <a:lnSpc>
                          <a:spcPct val="110000"/>
                        </a:lnSpc>
                      </a:pPr>
                      <a:r>
                        <a:rPr sz="862" b="0" i="0">
                          <a:solidFill>
                            <a:srgbClr val="22241F"/>
                          </a:solidFill>
                          <a:latin typeface="Arial"/>
                        </a:rPr>
                        <a:t>Head angle (deg)</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113°</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49°</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96°</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514350">
                <a:tc>
                  <a:txBody>
                    <a:bodyPr/>
                    <a:lstStyle/>
                    <a:p>
                      <a:pPr algn="l">
                        <a:lnSpc>
                          <a:spcPct val="110000"/>
                        </a:lnSpc>
                      </a:pPr>
                      <a:r>
                        <a:rPr sz="862" b="0" i="0">
                          <a:solidFill>
                            <a:srgbClr val="22241F"/>
                          </a:solidFill>
                          <a:latin typeface="Arial"/>
                        </a:rPr>
                        <a:t>Movement speed (px/s)</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17</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134</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2</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r h="514350">
                <a:tc>
                  <a:txBody>
                    <a:bodyPr/>
                    <a:lstStyle/>
                    <a:p>
                      <a:pPr algn="l">
                        <a:lnSpc>
                          <a:spcPct val="110000"/>
                        </a:lnSpc>
                      </a:pPr>
                      <a:r>
                        <a:rPr sz="862" b="0" i="0">
                          <a:solidFill>
                            <a:srgbClr val="22241F"/>
                          </a:solidFill>
                          <a:latin typeface="Arial"/>
                        </a:rPr>
                        <a:t>Limb extent (px)</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56</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148</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c>
                  <a:txBody>
                    <a:bodyPr/>
                    <a:lstStyle/>
                    <a:p>
                      <a:pPr algn="ctr">
                        <a:lnSpc>
                          <a:spcPct val="110000"/>
                        </a:lnSpc>
                      </a:pPr>
                      <a:r>
                        <a:rPr sz="1200" b="0" i="0">
                          <a:solidFill>
                            <a:srgbClr val="284236"/>
                          </a:solidFill>
                          <a:latin typeface="Georgia"/>
                        </a:rPr>
                        <a:t>98</a:t>
                      </a:r>
                    </a:p>
                  </a:txBody>
                  <a:tcPr marL="0" marR="95250" marT="38100" marB="38100" anchor="ctr">
                    <a:lnL w="12700" cap="flat" cmpd="sng" algn="ctr">
                      <a:solidFill>
                        <a:srgbClr val="F3EEDF"/>
                      </a:solidFill>
                      <a:prstDash val="solid"/>
                    </a:lnL>
                    <a:lnR w="12700" cap="flat" cmpd="sng" algn="ctr">
                      <a:solidFill>
                        <a:srgbClr val="F3EEDF"/>
                      </a:solidFill>
                      <a:prstDash val="solid"/>
                    </a:lnR>
                    <a:lnT w="12700" cap="flat" cmpd="sng" algn="ctr">
                      <a:solidFill>
                        <a:srgbClr val="F3EEDF"/>
                      </a:solidFill>
                      <a:prstDash val="solid"/>
                    </a:lnT>
                    <a:lnB w="9525" cap="flat" cmpd="sng" algn="ctr">
                      <a:solidFill>
                        <a:srgbClr val="64675E"/>
                      </a:solidFill>
                      <a:prstDash val="solid"/>
                    </a:lnB>
                    <a:solidFill>
                      <a:srgbClr val="F3EEDF"/>
                    </a:solidFill>
                  </a:tcPr>
                </a:tc>
              </a:tr>
            </a:tbl>
          </a:graphicData>
        </a:graphic>
      </p:graphicFrame>
      <p:sp>
        <p:nvSpPr>
          <p:cNvPr id="9" name="TextBox 8"/>
          <p:cNvSpPr txBox="1"/>
          <p:nvPr/>
        </p:nvSpPr>
        <p:spPr>
          <a:xfrm>
            <a:off x="609600" y="3981450"/>
            <a:ext cx="7239000" cy="152400"/>
          </a:xfrm>
          <a:prstGeom prst="rect">
            <a:avLst/>
          </a:prstGeom>
          <a:noFill/>
        </p:spPr>
        <p:txBody>
          <a:bodyPr wrap="square" anchor="t" lIns="0" rIns="0" tIns="0" bIns="0">
            <a:noAutofit/>
          </a:bodyPr>
          <a:lstStyle/>
          <a:p>
            <a:pPr algn="l">
              <a:lnSpc>
                <a:spcPct val="120000"/>
              </a:lnSpc>
            </a:pPr>
            <a:r>
              <a:rPr sz="637" b="0" i="0">
                <a:solidFill>
                  <a:srgbClr val="64675E"/>
                </a:solidFill>
                <a:latin typeface="Arial"/>
              </a:rPr>
              <a:t>Medians over training and validation windows with at least one silhouette.</a:t>
            </a:r>
          </a:p>
        </p:txBody>
      </p:sp>
      <p:sp>
        <p:nvSpPr>
          <p:cNvPr id="10" name="Rectangle 9"/>
          <p:cNvSpPr/>
          <p:nvPr/>
        </p:nvSpPr>
        <p:spPr>
          <a:xfrm>
            <a:off x="8191500" y="1428750"/>
            <a:ext cx="9525" cy="2381250"/>
          </a:xfrm>
          <a:prstGeom prst="rect">
            <a:avLst/>
          </a:prstGeom>
          <a:solidFill>
            <a:srgbClr val="64675E"/>
          </a:solidFill>
          <a:ln>
            <a:noFill/>
          </a:ln>
          <a:effectLst/>
        </p:spPr>
        <p:txBody>
          <a:bodyPr rtlCol="0" anchor="ctr"/>
          <a:lstStyle/>
          <a:p>
            <a:pPr algn="ctr"/>
          </a:p>
        </p:txBody>
      </p:sp>
      <p:sp>
        <p:nvSpPr>
          <p:cNvPr id="11" name="TextBox 10"/>
          <p:cNvSpPr txBox="1"/>
          <p:nvPr/>
        </p:nvSpPr>
        <p:spPr>
          <a:xfrm>
            <a:off x="8534400" y="1428750"/>
            <a:ext cx="2857500" cy="171450"/>
          </a:xfrm>
          <a:prstGeom prst="rect">
            <a:avLst/>
          </a:prstGeom>
          <a:noFill/>
        </p:spPr>
        <p:txBody>
          <a:bodyPr wrap="square" anchor="t" lIns="0" rIns="0" tIns="0" bIns="0">
            <a:noAutofit/>
          </a:bodyPr>
          <a:lstStyle/>
          <a:p>
            <a:pPr algn="l">
              <a:lnSpc>
                <a:spcPct val="120000"/>
              </a:lnSpc>
            </a:pPr>
            <a:r>
              <a:rPr sz="600" b="0" i="0" spc="140">
                <a:solidFill>
                  <a:srgbClr val="64675E"/>
                </a:solidFill>
                <a:latin typeface="Arial"/>
              </a:rPr>
              <a:t>VALIDATION MACRO F1</a:t>
            </a:r>
          </a:p>
        </p:txBody>
      </p:sp>
      <p:sp>
        <p:nvSpPr>
          <p:cNvPr id="12" name="TextBox 11"/>
          <p:cNvSpPr txBox="1"/>
          <p:nvPr/>
        </p:nvSpPr>
        <p:spPr>
          <a:xfrm>
            <a:off x="8534400" y="1619250"/>
            <a:ext cx="2857500" cy="495300"/>
          </a:xfrm>
          <a:prstGeom prst="rect">
            <a:avLst/>
          </a:prstGeom>
          <a:noFill/>
        </p:spPr>
        <p:txBody>
          <a:bodyPr wrap="square" anchor="t" lIns="0" rIns="0" tIns="0" bIns="0">
            <a:noAutofit/>
          </a:bodyPr>
          <a:lstStyle/>
          <a:p>
            <a:pPr algn="l">
              <a:lnSpc>
                <a:spcPct val="120000"/>
              </a:lnSpc>
            </a:pPr>
            <a:r>
              <a:rPr sz="3300" b="0" i="0">
                <a:solidFill>
                  <a:srgbClr val="284236"/>
                </a:solidFill>
                <a:latin typeface="Georgia"/>
              </a:rPr>
              <a:t>0.479</a:t>
            </a:r>
          </a:p>
        </p:txBody>
      </p:sp>
      <p:sp>
        <p:nvSpPr>
          <p:cNvPr id="13" name="TextBox 12"/>
          <p:cNvSpPr txBox="1"/>
          <p:nvPr/>
        </p:nvSpPr>
        <p:spPr>
          <a:xfrm>
            <a:off x="8534400" y="2247900"/>
            <a:ext cx="2857500" cy="171450"/>
          </a:xfrm>
          <a:prstGeom prst="rect">
            <a:avLst/>
          </a:prstGeom>
          <a:noFill/>
        </p:spPr>
        <p:txBody>
          <a:bodyPr wrap="square" anchor="t" lIns="0" rIns="0" tIns="0" bIns="0">
            <a:noAutofit/>
          </a:bodyPr>
          <a:lstStyle/>
          <a:p>
            <a:pPr algn="l">
              <a:lnSpc>
                <a:spcPct val="120000"/>
              </a:lnSpc>
            </a:pPr>
            <a:r>
              <a:rPr sz="600" b="0" i="0" spc="140">
                <a:solidFill>
                  <a:srgbClr val="64675E"/>
                </a:solidFill>
                <a:latin typeface="Arial"/>
              </a:rPr>
              <a:t>TEST MACRO F1</a:t>
            </a:r>
          </a:p>
        </p:txBody>
      </p:sp>
      <p:sp>
        <p:nvSpPr>
          <p:cNvPr id="14" name="TextBox 13"/>
          <p:cNvSpPr txBox="1"/>
          <p:nvPr/>
        </p:nvSpPr>
        <p:spPr>
          <a:xfrm>
            <a:off x="8534400" y="2438400"/>
            <a:ext cx="2857500" cy="495300"/>
          </a:xfrm>
          <a:prstGeom prst="rect">
            <a:avLst/>
          </a:prstGeom>
          <a:noFill/>
        </p:spPr>
        <p:txBody>
          <a:bodyPr wrap="square" anchor="t" lIns="0" rIns="0" tIns="0" bIns="0">
            <a:noAutofit/>
          </a:bodyPr>
          <a:lstStyle/>
          <a:p>
            <a:pPr algn="l">
              <a:lnSpc>
                <a:spcPct val="120000"/>
              </a:lnSpc>
            </a:pPr>
            <a:r>
              <a:rPr sz="3300" b="0" i="0">
                <a:solidFill>
                  <a:srgbClr val="C45A3B"/>
                </a:solidFill>
                <a:latin typeface="Georgia"/>
              </a:rPr>
              <a:t>0.422</a:t>
            </a:r>
          </a:p>
        </p:txBody>
      </p:sp>
      <p:sp>
        <p:nvSpPr>
          <p:cNvPr id="15" name="Rectangle 14"/>
          <p:cNvSpPr/>
          <p:nvPr/>
        </p:nvSpPr>
        <p:spPr>
          <a:xfrm>
            <a:off x="609600" y="4305300"/>
            <a:ext cx="10972800" cy="19050"/>
          </a:xfrm>
          <a:prstGeom prst="rect">
            <a:avLst/>
          </a:prstGeom>
          <a:solidFill>
            <a:srgbClr val="C45A3B"/>
          </a:solidFill>
          <a:ln>
            <a:noFill/>
          </a:ln>
          <a:effectLst/>
        </p:spPr>
        <p:txBody>
          <a:bodyPr rtlCol="0" anchor="ctr"/>
          <a:lstStyle/>
          <a:p>
            <a:pPr algn="ctr"/>
          </a:p>
        </p:txBody>
      </p:sp>
      <p:sp>
        <p:nvSpPr>
          <p:cNvPr id="16" name="TextBox 15"/>
          <p:cNvSpPr txBox="1"/>
          <p:nvPr/>
        </p:nvSpPr>
        <p:spPr>
          <a:xfrm>
            <a:off x="609600" y="4476750"/>
            <a:ext cx="10477500" cy="171450"/>
          </a:xfrm>
          <a:prstGeom prst="rect">
            <a:avLst/>
          </a:prstGeom>
          <a:noFill/>
        </p:spPr>
        <p:txBody>
          <a:bodyPr wrap="square" anchor="t" lIns="0" rIns="0" tIns="0" bIns="0">
            <a:noAutofit/>
          </a:bodyPr>
          <a:lstStyle/>
          <a:p>
            <a:pPr algn="l">
              <a:lnSpc>
                <a:spcPct val="120000"/>
              </a:lnSpc>
            </a:pPr>
            <a:r>
              <a:rPr sz="675" b="0" i="0" spc="140">
                <a:solidFill>
                  <a:srgbClr val="C45A3B"/>
                </a:solidFill>
                <a:latin typeface="Arial"/>
              </a:rPr>
              <a:t>PROXY, NOT POSE ESTIMATION</a:t>
            </a:r>
          </a:p>
        </p:txBody>
      </p:sp>
      <p:sp>
        <p:nvSpPr>
          <p:cNvPr id="17" name="TextBox 16"/>
          <p:cNvSpPr txBox="1"/>
          <p:nvPr/>
        </p:nvSpPr>
        <p:spPr>
          <a:xfrm>
            <a:off x="609600" y="4686300"/>
            <a:ext cx="10287000" cy="590550"/>
          </a:xfrm>
          <a:prstGeom prst="rect">
            <a:avLst/>
          </a:prstGeom>
          <a:noFill/>
        </p:spPr>
        <p:txBody>
          <a:bodyPr wrap="square" anchor="t" lIns="0" rIns="0" tIns="0" bIns="0">
            <a:noAutofit/>
          </a:bodyPr>
          <a:lstStyle/>
          <a:p>
            <a:pPr algn="l">
              <a:lnSpc>
                <a:spcPct val="140000"/>
              </a:lnSpc>
            </a:pPr>
            <a:r>
              <a:rPr sz="1125" b="0" i="0">
                <a:solidFill>
                  <a:srgbClr val="22241F"/>
                </a:solidFill>
                <a:latin typeface="Arial"/>
              </a:rPr>
              <a:t>No keypoints, no pose model. Resting is invisible: 58 of 93 training windows have no silhouette, so Resting scores 0 on test.</a:t>
            </a:r>
          </a:p>
        </p:txBody>
      </p:sp>
      <p:sp>
        <p:nvSpPr>
          <p:cNvPr id="18" name="TextBox 17"/>
          <p:cNvSpPr txBox="1"/>
          <p:nvPr/>
        </p:nvSpPr>
        <p:spPr>
          <a:xfrm>
            <a:off x="609600" y="5191125"/>
            <a:ext cx="10287000" cy="381000"/>
          </a:xfrm>
          <a:prstGeom prst="rect">
            <a:avLst/>
          </a:prstGeom>
          <a:noFill/>
        </p:spPr>
        <p:txBody>
          <a:bodyPr wrap="square" anchor="t" lIns="0" rIns="0" tIns="0" bIns="0">
            <a:noAutofit/>
          </a:bodyPr>
          <a:lstStyle/>
          <a:p>
            <a:pPr algn="l">
              <a:lnSpc>
                <a:spcPct val="135000"/>
              </a:lnSpc>
            </a:pPr>
            <a:r>
              <a:rPr sz="750" b="0" i="0">
                <a:solidFill>
                  <a:srgbClr val="64675E"/>
                </a:solidFill>
                <a:latin typeface="Arial"/>
              </a:rPr>
              <a:t>Per-class test F1: Eating 0.267 · Locomotion 1.000 · Resting 0.000. Locomotion separates by an order of magnitude in speed.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08 / ONE COMMAND</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All three tasks in one command</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08 / 10</a:t>
            </a:r>
          </a:p>
        </p:txBody>
      </p:sp>
      <p:sp>
        <p:nvSpPr>
          <p:cNvPr id="8" name="TextBox 7"/>
          <p:cNvSpPr txBox="1"/>
          <p:nvPr/>
        </p:nvSpPr>
        <p:spPr>
          <a:xfrm>
            <a:off x="609600" y="1143000"/>
            <a:ext cx="10972800" cy="171450"/>
          </a:xfrm>
          <a:prstGeom prst="rect">
            <a:avLst/>
          </a:prstGeom>
          <a:noFill/>
        </p:spPr>
        <p:txBody>
          <a:bodyPr wrap="square" anchor="t" lIns="0" rIns="0" tIns="0" bIns="0">
            <a:noAutofit/>
          </a:bodyPr>
          <a:lstStyle/>
          <a:p>
            <a:pPr algn="l">
              <a:lnSpc>
                <a:spcPct val="120000"/>
              </a:lnSpc>
            </a:pPr>
            <a:r>
              <a:rPr sz="750" b="0" i="0">
                <a:solidFill>
                  <a:srgbClr val="87966F"/>
                </a:solidFill>
                <a:latin typeface="DejaVu Sans Mono"/>
              </a:rPr>
              <a:t>$ </a:t>
            </a:r>
            <a:r>
              <a:rPr sz="750" b="0" i="0">
                <a:solidFill>
                  <a:srgbClr val="284236"/>
                </a:solidFill>
                <a:latin typeface="DejaVu Sans Mono"/>
              </a:rPr>
              <a:t>python3 scripts/demo_all.py data/raw/Eating/25690519193422801.mp4</a:t>
            </a:r>
          </a:p>
        </p:txBody>
      </p:sp>
      <p:sp>
        <p:nvSpPr>
          <p:cNvPr id="9" name="Rectangle 8"/>
          <p:cNvSpPr/>
          <p:nvPr/>
        </p:nvSpPr>
        <p:spPr>
          <a:xfrm>
            <a:off x="609600" y="1485900"/>
            <a:ext cx="10972800" cy="2609850"/>
          </a:xfrm>
          <a:prstGeom prst="rect">
            <a:avLst/>
          </a:prstGeom>
          <a:solidFill>
            <a:srgbClr val="E1E6DA"/>
          </a:solidFill>
          <a:ln>
            <a:noFill/>
          </a:ln>
          <a:effectLst/>
        </p:spPr>
        <p:txBody>
          <a:bodyPr rtlCol="0" anchor="ctr"/>
          <a:lstStyle/>
          <a:p>
            <a:pPr algn="ctr"/>
          </a:p>
        </p:txBody>
      </p:sp>
      <p:sp>
        <p:nvSpPr>
          <p:cNvPr id="10" name="TextBox 9"/>
          <p:cNvSpPr txBox="1"/>
          <p:nvPr/>
        </p:nvSpPr>
        <p:spPr>
          <a:xfrm>
            <a:off x="838200" y="1714500"/>
            <a:ext cx="10515600" cy="2190750"/>
          </a:xfrm>
          <a:prstGeom prst="rect">
            <a:avLst/>
          </a:prstGeom>
          <a:noFill/>
        </p:spPr>
        <p:txBody>
          <a:bodyPr wrap="square" anchor="t" lIns="0" rIns="0" tIns="0" bIns="0">
            <a:noAutofit/>
          </a:bodyPr>
          <a:lstStyle/>
          <a:p>
            <a:pPr algn="l">
              <a:lnSpc>
                <a:spcPct val="175000"/>
              </a:lnSpc>
            </a:pPr>
            <a:r>
              <a:rPr sz="975" b="0" i="0">
                <a:solidFill>
                  <a:srgbClr val="22241F"/>
                </a:solidFill>
                <a:latin typeface="DejaVu Sans Mono"/>
              </a:rPr>
              <a:t>data/raw/Eating/25690519193422801.mp4  (50.0 s, 10 windows, abstain below 0.00)</a:t>
            </a:r>
          </a:p>
          <a:p>
            <a:pPr algn="l">
              <a:lnSpc>
                <a:spcPct val="175000"/>
              </a:lnSpc>
            </a:pPr>
            <a:r>
              <a:rPr sz="975" b="0" i="0">
                <a:solidFill>
                  <a:srgbClr val="22241F"/>
                </a:solidFill>
                <a:latin typeface="DejaVu Sans Mono"/>
              </a:rPr>
              <a:t>  start     end  T1           conf  T2 box               via     conf  crop         body  head   speed  limb</a:t>
            </a:r>
          </a:p>
          <a:p>
            <a:pPr algn="l">
              <a:lnSpc>
                <a:spcPct val="175000"/>
              </a:lnSpc>
            </a:pPr>
            <a:r>
              <a:rPr sz="975" b="0" i="0">
                <a:solidFill>
                  <a:srgbClr val="22241F"/>
                </a:solidFill>
                <a:latin typeface="DejaVu Sans Mono"/>
              </a:rPr>
              <a:t>   0.00    5.00  Eating       0.73  408,462,606,528      motion  0.00  Eating      6 161       1    63</a:t>
            </a:r>
          </a:p>
          <a:p>
            <a:pPr algn="l">
              <a:lnSpc>
                <a:spcPct val="175000"/>
              </a:lnSpc>
            </a:pPr>
            <a:r>
              <a:rPr sz="975" b="0" i="0">
                <a:solidFill>
                  <a:srgbClr val="22241F"/>
                </a:solidFill>
                <a:latin typeface="DejaVu Sans Mono"/>
              </a:rPr>
              <a:t>   5.00   10.00  Eating       0.69  606,510,674,564      motion  0.37  Eating      25 16      23    52</a:t>
            </a:r>
          </a:p>
          <a:p>
            <a:pPr algn="l">
              <a:lnSpc>
                <a:spcPct val="175000"/>
              </a:lnSpc>
            </a:pPr>
            <a:r>
              <a:rPr sz="975" b="0" i="0">
                <a:solidFill>
                  <a:srgbClr val="22241F"/>
                </a:solidFill>
                <a:latin typeface="DejaVu Sans Mono"/>
              </a:rPr>
              <a:t>  10.00   15.00  Eating       0.69  632,472,700,550      motion  0.00  Eating      43 24      20    68</a:t>
            </a:r>
          </a:p>
          <a:p>
            <a:pPr algn="l">
              <a:lnSpc>
                <a:spcPct val="175000"/>
              </a:lnSpc>
            </a:pPr>
            <a:r>
              <a:rPr sz="975" b="0" i="0">
                <a:solidFill>
                  <a:srgbClr val="22241F"/>
                </a:solidFill>
                <a:latin typeface="DejaVu Sans Mono"/>
              </a:rPr>
              <a:t>  15.00   20.00  Eating       0.67  341,365,624,534      yolo    0.58  Locomotion  119 19      24    51</a:t>
            </a:r>
          </a:p>
          <a:p>
            <a:pPr algn="l">
              <a:lnSpc>
                <a:spcPct val="175000"/>
              </a:lnSpc>
            </a:pPr>
            <a:r>
              <a:rPr sz="975" b="0" i="0">
                <a:solidFill>
                  <a:srgbClr val="22241F"/>
                </a:solidFill>
                <a:latin typeface="DejaVu Sans Mono"/>
              </a:rPr>
              <a:t/>
            </a:r>
          </a:p>
          <a:p>
            <a:pPr algn="l">
              <a:lnSpc>
                <a:spcPct val="175000"/>
              </a:lnSpc>
            </a:pPr>
            <a:r>
              <a:rPr sz="975" b="0" i="0">
                <a:solidFill>
                  <a:srgbClr val="22241F"/>
                </a:solidFill>
                <a:latin typeface="DejaVu Sans Mono"/>
              </a:rPr>
              <a:t>detection: 10/10 windows found the animal directly (6 by the trained detector, 4 by the per-clip model)</a:t>
            </a:r>
          </a:p>
          <a:p>
            <a:pPr algn="l">
              <a:lnSpc>
                <a:spcPct val="175000"/>
              </a:lnSpc>
            </a:pPr>
            <a:r>
              <a:rPr sz="975" b="0" i="0">
                <a:solidFill>
                  <a:srgbClr val="22241F"/>
                </a:solidFill>
                <a:latin typeface="DejaVu Sans Mono"/>
              </a:rPr>
              <a:t>full-frame and crop labels agree on 4/10 windows</a:t>
            </a:r>
          </a:p>
        </p:txBody>
      </p:sp>
      <p:sp>
        <p:nvSpPr>
          <p:cNvPr id="11" name="TextBox 10"/>
          <p:cNvSpPr txBox="1"/>
          <p:nvPr/>
        </p:nvSpPr>
        <p:spPr>
          <a:xfrm>
            <a:off x="609600" y="4400550"/>
            <a:ext cx="10477500" cy="381000"/>
          </a:xfrm>
          <a:prstGeom prst="rect">
            <a:avLst/>
          </a:prstGeom>
          <a:noFill/>
        </p:spPr>
        <p:txBody>
          <a:bodyPr wrap="square" anchor="t" lIns="0" rIns="0" tIns="0" bIns="0">
            <a:noAutofit/>
          </a:bodyPr>
          <a:lstStyle/>
          <a:p>
            <a:pPr algn="l">
              <a:lnSpc>
                <a:spcPct val="135000"/>
              </a:lnSpc>
            </a:pPr>
            <a:r>
              <a:rPr sz="1050" b="0" i="0">
                <a:solidFill>
                  <a:srgbClr val="22241F"/>
                </a:solidFill>
                <a:latin typeface="Arial"/>
              </a:rPr>
              <a:t>Task 1 behavior, Task 2 detector box and crop, Task 3 features — same windows, same timecodes.</a:t>
            </a:r>
          </a:p>
        </p:txBody>
      </p:sp>
      <p:sp>
        <p:nvSpPr>
          <p:cNvPr id="12" name="TextBox 11"/>
          <p:cNvSpPr txBox="1"/>
          <p:nvPr/>
        </p:nvSpPr>
        <p:spPr>
          <a:xfrm>
            <a:off x="609600" y="4781550"/>
            <a:ext cx="10477500" cy="304800"/>
          </a:xfrm>
          <a:prstGeom prst="rect">
            <a:avLst/>
          </a:prstGeom>
          <a:noFill/>
        </p:spPr>
        <p:txBody>
          <a:bodyPr wrap="square" anchor="t" lIns="0" rIns="0" tIns="0" bIns="0">
            <a:noAutofit/>
          </a:bodyPr>
          <a:lstStyle/>
          <a:p>
            <a:pPr algn="l">
              <a:lnSpc>
                <a:spcPct val="135000"/>
              </a:lnSpc>
            </a:pPr>
            <a:r>
              <a:rPr sz="675" b="0" i="0">
                <a:solidFill>
                  <a:srgbClr val="64675E"/>
                </a:solidFill>
                <a:latin typeface="Arial"/>
              </a:rPr>
              <a:t>Validation clip. Output trimmed to the header, four data rows and the two summary lines; the per-class features are medians over the window's sampled frames.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09 / BOUNDARIES</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What this does not prove</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09 / 10</a:t>
            </a:r>
          </a:p>
        </p:txBody>
      </p:sp>
      <p:sp>
        <p:nvSpPr>
          <p:cNvPr id="8" name="TextBox 7"/>
          <p:cNvSpPr txBox="1"/>
          <p:nvPr/>
        </p:nvSpPr>
        <p:spPr>
          <a:xfrm>
            <a:off x="609600" y="1295400"/>
            <a:ext cx="342900" cy="152400"/>
          </a:xfrm>
          <a:prstGeom prst="rect">
            <a:avLst/>
          </a:prstGeom>
          <a:noFill/>
        </p:spPr>
        <p:txBody>
          <a:bodyPr wrap="square" anchor="t" lIns="0" rIns="0" tIns="0" bIns="0">
            <a:noAutofit/>
          </a:bodyPr>
          <a:lstStyle/>
          <a:p>
            <a:pPr algn="l">
              <a:lnSpc>
                <a:spcPct val="120000"/>
              </a:lnSpc>
            </a:pPr>
            <a:r>
              <a:rPr sz="675" b="0" i="0" spc="100">
                <a:solidFill>
                  <a:srgbClr val="87966F"/>
                </a:solidFill>
                <a:latin typeface="Arial"/>
              </a:rPr>
              <a:t>01</a:t>
            </a:r>
          </a:p>
        </p:txBody>
      </p:sp>
      <p:sp>
        <p:nvSpPr>
          <p:cNvPr id="9" name="TextBox 8"/>
          <p:cNvSpPr txBox="1"/>
          <p:nvPr/>
        </p:nvSpPr>
        <p:spPr>
          <a:xfrm>
            <a:off x="1028700" y="1238250"/>
            <a:ext cx="285750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15 test windows from 5 clips</a:t>
            </a:r>
          </a:p>
        </p:txBody>
      </p:sp>
      <p:sp>
        <p:nvSpPr>
          <p:cNvPr id="10" name="TextBox 9"/>
          <p:cNvSpPr txBox="1"/>
          <p:nvPr/>
        </p:nvSpPr>
        <p:spPr>
          <a:xfrm>
            <a:off x="4000500" y="1238250"/>
            <a:ext cx="7581900" cy="4953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Locomotion has 2 and Resting takes 6 from one clip. A per-class score on that support is a baseline, not a stable estimate.</a:t>
            </a:r>
          </a:p>
        </p:txBody>
      </p:sp>
      <p:sp>
        <p:nvSpPr>
          <p:cNvPr id="11" name="Rectangle 10"/>
          <p:cNvSpPr/>
          <p:nvPr/>
        </p:nvSpPr>
        <p:spPr>
          <a:xfrm>
            <a:off x="609600" y="1752600"/>
            <a:ext cx="10972800" cy="9525"/>
          </a:xfrm>
          <a:prstGeom prst="rect">
            <a:avLst/>
          </a:prstGeom>
          <a:solidFill>
            <a:srgbClr val="64675E"/>
          </a:solidFill>
          <a:ln>
            <a:noFill/>
          </a:ln>
          <a:effectLst/>
        </p:spPr>
        <p:txBody>
          <a:bodyPr rtlCol="0" anchor="ctr"/>
          <a:lstStyle/>
          <a:p>
            <a:pPr algn="ctr"/>
          </a:p>
        </p:txBody>
      </p:sp>
      <p:sp>
        <p:nvSpPr>
          <p:cNvPr id="12" name="TextBox 11"/>
          <p:cNvSpPr txBox="1"/>
          <p:nvPr/>
        </p:nvSpPr>
        <p:spPr>
          <a:xfrm>
            <a:off x="609600" y="1981200"/>
            <a:ext cx="342900" cy="152400"/>
          </a:xfrm>
          <a:prstGeom prst="rect">
            <a:avLst/>
          </a:prstGeom>
          <a:noFill/>
        </p:spPr>
        <p:txBody>
          <a:bodyPr wrap="square" anchor="t" lIns="0" rIns="0" tIns="0" bIns="0">
            <a:noAutofit/>
          </a:bodyPr>
          <a:lstStyle/>
          <a:p>
            <a:pPr algn="l">
              <a:lnSpc>
                <a:spcPct val="120000"/>
              </a:lnSpc>
            </a:pPr>
            <a:r>
              <a:rPr sz="675" b="0" i="0" spc="100">
                <a:solidFill>
                  <a:srgbClr val="87966F"/>
                </a:solidFill>
                <a:latin typeface="Arial"/>
              </a:rPr>
              <a:t>02</a:t>
            </a:r>
          </a:p>
        </p:txBody>
      </p:sp>
      <p:sp>
        <p:nvSpPr>
          <p:cNvPr id="13" name="TextBox 12"/>
          <p:cNvSpPr txBox="1"/>
          <p:nvPr/>
        </p:nvSpPr>
        <p:spPr>
          <a:xfrm>
            <a:off x="1028700" y="1924050"/>
            <a:ext cx="285750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Camera and class travel together</a:t>
            </a:r>
          </a:p>
        </p:txBody>
      </p:sp>
      <p:sp>
        <p:nvSpPr>
          <p:cNvPr id="14" name="TextBox 13"/>
          <p:cNvSpPr txBox="1"/>
          <p:nvPr/>
        </p:nvSpPr>
        <p:spPr>
          <a:xfrm>
            <a:off x="4000500" y="1924050"/>
            <a:ext cx="7581900" cy="4953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Every Resting window is Camera 03 and nearly all Eating is Camera 02, so a score can come from the recording rather than the behavior.</a:t>
            </a:r>
          </a:p>
        </p:txBody>
      </p:sp>
      <p:sp>
        <p:nvSpPr>
          <p:cNvPr id="15" name="Rectangle 14"/>
          <p:cNvSpPr/>
          <p:nvPr/>
        </p:nvSpPr>
        <p:spPr>
          <a:xfrm>
            <a:off x="609600" y="2438400"/>
            <a:ext cx="10972800" cy="9525"/>
          </a:xfrm>
          <a:prstGeom prst="rect">
            <a:avLst/>
          </a:prstGeom>
          <a:solidFill>
            <a:srgbClr val="64675E"/>
          </a:solidFill>
          <a:ln>
            <a:noFill/>
          </a:ln>
          <a:effectLst/>
        </p:spPr>
        <p:txBody>
          <a:bodyPr rtlCol="0" anchor="ctr"/>
          <a:lstStyle/>
          <a:p>
            <a:pPr algn="ctr"/>
          </a:p>
        </p:txBody>
      </p:sp>
      <p:sp>
        <p:nvSpPr>
          <p:cNvPr id="16" name="TextBox 15"/>
          <p:cNvSpPr txBox="1"/>
          <p:nvPr/>
        </p:nvSpPr>
        <p:spPr>
          <a:xfrm>
            <a:off x="609600" y="2667000"/>
            <a:ext cx="342900" cy="152400"/>
          </a:xfrm>
          <a:prstGeom prst="rect">
            <a:avLst/>
          </a:prstGeom>
          <a:noFill/>
        </p:spPr>
        <p:txBody>
          <a:bodyPr wrap="square" anchor="t" lIns="0" rIns="0" tIns="0" bIns="0">
            <a:noAutofit/>
          </a:bodyPr>
          <a:lstStyle/>
          <a:p>
            <a:pPr algn="l">
              <a:lnSpc>
                <a:spcPct val="120000"/>
              </a:lnSpc>
            </a:pPr>
            <a:r>
              <a:rPr sz="675" b="0" i="0" spc="100">
                <a:solidFill>
                  <a:srgbClr val="87966F"/>
                </a:solidFill>
                <a:latin typeface="Arial"/>
              </a:rPr>
              <a:t>03</a:t>
            </a:r>
          </a:p>
        </p:txBody>
      </p:sp>
      <p:sp>
        <p:nvSpPr>
          <p:cNvPr id="17" name="TextBox 16"/>
          <p:cNvSpPr txBox="1"/>
          <p:nvPr/>
        </p:nvSpPr>
        <p:spPr>
          <a:xfrm>
            <a:off x="1028700" y="2609850"/>
            <a:ext cx="285750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The detector does not generalize</a:t>
            </a:r>
          </a:p>
        </p:txBody>
      </p:sp>
      <p:sp>
        <p:nvSpPr>
          <p:cNvPr id="18" name="TextBox 17"/>
          <p:cNvSpPr txBox="1"/>
          <p:nvPr/>
        </p:nvSpPr>
        <p:spPr>
          <a:xfrm>
            <a:off x="4000500" y="2609850"/>
            <a:ext cx="7581900" cy="4953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It fails on the 2026-05-20 recording day, absent from training, and fires on a bright plant.</a:t>
            </a:r>
          </a:p>
        </p:txBody>
      </p:sp>
      <p:sp>
        <p:nvSpPr>
          <p:cNvPr id="19" name="Rectangle 18"/>
          <p:cNvSpPr/>
          <p:nvPr/>
        </p:nvSpPr>
        <p:spPr>
          <a:xfrm>
            <a:off x="609600" y="3124200"/>
            <a:ext cx="10972800" cy="9525"/>
          </a:xfrm>
          <a:prstGeom prst="rect">
            <a:avLst/>
          </a:prstGeom>
          <a:solidFill>
            <a:srgbClr val="64675E"/>
          </a:solidFill>
          <a:ln>
            <a:noFill/>
          </a:ln>
          <a:effectLst/>
        </p:spPr>
        <p:txBody>
          <a:bodyPr rtlCol="0" anchor="ctr"/>
          <a:lstStyle/>
          <a:p>
            <a:pPr algn="ctr"/>
          </a:p>
        </p:txBody>
      </p:sp>
      <p:sp>
        <p:nvSpPr>
          <p:cNvPr id="20" name="TextBox 19"/>
          <p:cNvSpPr txBox="1"/>
          <p:nvPr/>
        </p:nvSpPr>
        <p:spPr>
          <a:xfrm>
            <a:off x="609600" y="3352800"/>
            <a:ext cx="342900" cy="152400"/>
          </a:xfrm>
          <a:prstGeom prst="rect">
            <a:avLst/>
          </a:prstGeom>
          <a:noFill/>
        </p:spPr>
        <p:txBody>
          <a:bodyPr wrap="square" anchor="t" lIns="0" rIns="0" tIns="0" bIns="0">
            <a:noAutofit/>
          </a:bodyPr>
          <a:lstStyle/>
          <a:p>
            <a:pPr algn="l">
              <a:lnSpc>
                <a:spcPct val="120000"/>
              </a:lnSpc>
            </a:pPr>
            <a:r>
              <a:rPr sz="675" b="0" i="0" spc="100">
                <a:solidFill>
                  <a:srgbClr val="87966F"/>
                </a:solidFill>
                <a:latin typeface="Arial"/>
              </a:rPr>
              <a:t>04</a:t>
            </a:r>
          </a:p>
        </p:txBody>
      </p:sp>
      <p:sp>
        <p:nvSpPr>
          <p:cNvPr id="21" name="TextBox 20"/>
          <p:cNvSpPr txBox="1"/>
          <p:nvPr/>
        </p:nvSpPr>
        <p:spPr>
          <a:xfrm>
            <a:off x="1028700" y="3295650"/>
            <a:ext cx="285750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Task 3 is a proxy</a:t>
            </a:r>
          </a:p>
        </p:txBody>
      </p:sp>
      <p:sp>
        <p:nvSpPr>
          <p:cNvPr id="22" name="TextBox 21"/>
          <p:cNvSpPr txBox="1"/>
          <p:nvPr/>
        </p:nvSpPr>
        <p:spPr>
          <a:xfrm>
            <a:off x="4000500" y="3295650"/>
            <a:ext cx="7581900" cy="4953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No keypoints and no pose model. A still animal joins the median background, so most Resting windows have no features at all.</a:t>
            </a:r>
          </a:p>
        </p:txBody>
      </p:sp>
      <p:sp>
        <p:nvSpPr>
          <p:cNvPr id="23" name="Rectangle 22"/>
          <p:cNvSpPr/>
          <p:nvPr/>
        </p:nvSpPr>
        <p:spPr>
          <a:xfrm>
            <a:off x="609600" y="3810000"/>
            <a:ext cx="10972800" cy="9525"/>
          </a:xfrm>
          <a:prstGeom prst="rect">
            <a:avLst/>
          </a:prstGeom>
          <a:solidFill>
            <a:srgbClr val="64675E"/>
          </a:solidFill>
          <a:ln>
            <a:noFill/>
          </a:ln>
          <a:effectLst/>
        </p:spPr>
        <p:txBody>
          <a:bodyPr rtlCol="0" anchor="ctr"/>
          <a:lstStyle/>
          <a:p>
            <a:pPr algn="ctr"/>
          </a:p>
        </p:txBody>
      </p:sp>
      <p:sp>
        <p:nvSpPr>
          <p:cNvPr id="24" name="TextBox 23"/>
          <p:cNvSpPr txBox="1"/>
          <p:nvPr/>
        </p:nvSpPr>
        <p:spPr>
          <a:xfrm>
            <a:off x="609600" y="4038600"/>
            <a:ext cx="342900" cy="152400"/>
          </a:xfrm>
          <a:prstGeom prst="rect">
            <a:avLst/>
          </a:prstGeom>
          <a:noFill/>
        </p:spPr>
        <p:txBody>
          <a:bodyPr wrap="square" anchor="t" lIns="0" rIns="0" tIns="0" bIns="0">
            <a:noAutofit/>
          </a:bodyPr>
          <a:lstStyle/>
          <a:p>
            <a:pPr algn="l">
              <a:lnSpc>
                <a:spcPct val="120000"/>
              </a:lnSpc>
            </a:pPr>
            <a:r>
              <a:rPr sz="675" b="0" i="0" spc="100">
                <a:solidFill>
                  <a:srgbClr val="87966F"/>
                </a:solidFill>
                <a:latin typeface="Arial"/>
              </a:rPr>
              <a:t>05</a:t>
            </a:r>
          </a:p>
        </p:txBody>
      </p:sp>
      <p:sp>
        <p:nvSpPr>
          <p:cNvPr id="25" name="TextBox 24"/>
          <p:cNvSpPr txBox="1"/>
          <p:nvPr/>
        </p:nvSpPr>
        <p:spPr>
          <a:xfrm>
            <a:off x="1028700" y="3981450"/>
            <a:ext cx="2857500" cy="247650"/>
          </a:xfrm>
          <a:prstGeom prst="rect">
            <a:avLst/>
          </a:prstGeom>
          <a:noFill/>
        </p:spPr>
        <p:txBody>
          <a:bodyPr wrap="square" anchor="t" lIns="0" rIns="0" tIns="0" bIns="0">
            <a:noAutofit/>
          </a:bodyPr>
          <a:lstStyle/>
          <a:p>
            <a:pPr algn="l">
              <a:lnSpc>
                <a:spcPct val="120000"/>
              </a:lnSpc>
            </a:pPr>
            <a:r>
              <a:rPr sz="1125" b="0" i="0">
                <a:solidFill>
                  <a:srgbClr val="284236"/>
                </a:solidFill>
                <a:latin typeface="Georgia"/>
              </a:rPr>
              <a:t>One training seed</a:t>
            </a:r>
          </a:p>
        </p:txBody>
      </p:sp>
      <p:sp>
        <p:nvSpPr>
          <p:cNvPr id="26" name="TextBox 25"/>
          <p:cNvSpPr txBox="1"/>
          <p:nvPr/>
        </p:nvSpPr>
        <p:spPr>
          <a:xfrm>
            <a:off x="4000500" y="3981450"/>
            <a:ext cx="7581900" cy="4953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Seed 0 only. No run-to-run spread is reported, so the split between score and seed is unknown.</a:t>
            </a:r>
          </a:p>
        </p:txBody>
      </p:sp>
      <p:sp>
        <p:nvSpPr>
          <p:cNvPr id="27" name="Rectangle 26"/>
          <p:cNvSpPr/>
          <p:nvPr/>
        </p:nvSpPr>
        <p:spPr>
          <a:xfrm>
            <a:off x="609600" y="4495800"/>
            <a:ext cx="10972800" cy="9525"/>
          </a:xfrm>
          <a:prstGeom prst="rect">
            <a:avLst/>
          </a:prstGeom>
          <a:solidFill>
            <a:srgbClr val="64675E"/>
          </a:solidFill>
          <a:ln>
            <a:noFill/>
          </a:ln>
          <a:effectLst/>
        </p:spPr>
        <p:txBody>
          <a:bodyPr rtlCol="0" anchor="ctr"/>
          <a:lstStyle/>
          <a:p>
            <a:pPr algn="ctr"/>
          </a:p>
        </p:txBody>
      </p:sp>
      <p:sp>
        <p:nvSpPr>
          <p:cNvPr id="28" name="Rectangle 27"/>
          <p:cNvSpPr/>
          <p:nvPr/>
        </p:nvSpPr>
        <p:spPr>
          <a:xfrm>
            <a:off x="609600" y="4953000"/>
            <a:ext cx="10972800" cy="19050"/>
          </a:xfrm>
          <a:prstGeom prst="rect">
            <a:avLst/>
          </a:prstGeom>
          <a:solidFill>
            <a:srgbClr val="C45A3B"/>
          </a:solidFill>
          <a:ln>
            <a:noFill/>
          </a:ln>
          <a:effectLst/>
        </p:spPr>
        <p:txBody>
          <a:bodyPr rtlCol="0" anchor="ctr"/>
          <a:lstStyle/>
          <a:p>
            <a:pPr algn="ctr"/>
          </a:p>
        </p:txBody>
      </p:sp>
      <p:sp>
        <p:nvSpPr>
          <p:cNvPr id="29" name="TextBox 28"/>
          <p:cNvSpPr txBox="1"/>
          <p:nvPr/>
        </p:nvSpPr>
        <p:spPr>
          <a:xfrm>
            <a:off x="609600" y="5124450"/>
            <a:ext cx="10477500" cy="419100"/>
          </a:xfrm>
          <a:prstGeom prst="rect">
            <a:avLst/>
          </a:prstGeom>
          <a:noFill/>
        </p:spPr>
        <p:txBody>
          <a:bodyPr wrap="square" anchor="t" lIns="0" rIns="0" tIns="0" bIns="0">
            <a:noAutofit/>
          </a:bodyPr>
          <a:lstStyle/>
          <a:p>
            <a:pPr algn="l">
              <a:lnSpc>
                <a:spcPct val="135000"/>
              </a:lnSpc>
            </a:pPr>
            <a:r>
              <a:rPr sz="900" b="0" i="0">
                <a:solidFill>
                  <a:srgbClr val="C45A3B"/>
                </a:solidFill>
                <a:latin typeface="Arial"/>
              </a:rPr>
              <a:t>And no human ground truth for detection: its quality is a counted visual audit, not mAP against truth.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EEDF"/>
          </a:solidFill>
          <a:ln>
            <a:noFill/>
          </a:ln>
          <a:effectLst/>
        </p:spPr>
        <p:txBody>
          <a:bodyPr rtlCol="0" anchor="ctr"/>
          <a:lstStyle/>
          <a:p>
            <a:pPr algn="ctr"/>
          </a:p>
        </p:txBody>
      </p:sp>
      <p:sp>
        <p:nvSpPr>
          <p:cNvPr id="3" name="Rectangle 2"/>
          <p:cNvSpPr/>
          <p:nvPr/>
        </p:nvSpPr>
        <p:spPr>
          <a:xfrm>
            <a:off x="609600" y="457200"/>
            <a:ext cx="10972800" cy="9525"/>
          </a:xfrm>
          <a:prstGeom prst="rect">
            <a:avLst/>
          </a:prstGeom>
          <a:solidFill>
            <a:srgbClr val="64675E"/>
          </a:solidFill>
          <a:ln>
            <a:noFill/>
          </a:ln>
          <a:effectLst/>
        </p:spPr>
        <p:txBody>
          <a:bodyPr rtlCol="0" anchor="ctr"/>
          <a:lstStyle/>
          <a:p>
            <a:pPr algn="ctr"/>
          </a:p>
        </p:txBody>
      </p:sp>
      <p:sp>
        <p:nvSpPr>
          <p:cNvPr id="4" name="TextBox 3"/>
          <p:cNvSpPr txBox="1"/>
          <p:nvPr/>
        </p:nvSpPr>
        <p:spPr>
          <a:xfrm>
            <a:off x="609600" y="228600"/>
            <a:ext cx="8572500" cy="152400"/>
          </a:xfrm>
          <a:prstGeom prst="rect">
            <a:avLst/>
          </a:prstGeom>
          <a:noFill/>
        </p:spPr>
        <p:txBody>
          <a:bodyPr wrap="square" anchor="t" lIns="0" rIns="0" tIns="0" bIns="0">
            <a:noAutofit/>
          </a:bodyPr>
          <a:lstStyle/>
          <a:p>
            <a:pPr algn="l">
              <a:lnSpc>
                <a:spcPct val="120000"/>
              </a:lnSpc>
            </a:pPr>
            <a:r>
              <a:rPr sz="750" b="0" i="0" spc="160">
                <a:solidFill>
                  <a:srgbClr val="284236"/>
                </a:solidFill>
                <a:latin typeface="Arial"/>
              </a:rPr>
              <a:t>10 / NEXT</a:t>
            </a:r>
          </a:p>
        </p:txBody>
      </p:sp>
      <p:sp>
        <p:nvSpPr>
          <p:cNvPr id="5" name="TextBox 4"/>
          <p:cNvSpPr txBox="1"/>
          <p:nvPr/>
        </p:nvSpPr>
        <p:spPr>
          <a:xfrm>
            <a:off x="609600" y="609600"/>
            <a:ext cx="10972800" cy="457200"/>
          </a:xfrm>
          <a:prstGeom prst="rect">
            <a:avLst/>
          </a:prstGeom>
          <a:noFill/>
        </p:spPr>
        <p:txBody>
          <a:bodyPr wrap="square" anchor="t" lIns="0" rIns="0" tIns="0" bIns="0">
            <a:noAutofit/>
          </a:bodyPr>
          <a:lstStyle/>
          <a:p>
            <a:pPr algn="l">
              <a:lnSpc>
                <a:spcPct val="105000"/>
              </a:lnSpc>
            </a:pPr>
            <a:r>
              <a:rPr sz="2700" b="0" i="0">
                <a:solidFill>
                  <a:srgbClr val="284236"/>
                </a:solidFill>
                <a:latin typeface="Georgia"/>
              </a:rPr>
              <a:t>Next</a:t>
            </a:r>
          </a:p>
        </p:txBody>
      </p:sp>
      <p:sp>
        <p:nvSpPr>
          <p:cNvPr id="6" name="TextBox 5"/>
          <p:cNvSpPr txBox="1"/>
          <p:nvPr/>
        </p:nvSpPr>
        <p:spPr>
          <a:xfrm>
            <a:off x="609600" y="6572250"/>
            <a:ext cx="3810000" cy="133350"/>
          </a:xfrm>
          <a:prstGeom prst="rect">
            <a:avLst/>
          </a:prstGeom>
          <a:noFill/>
        </p:spPr>
        <p:txBody>
          <a:bodyPr wrap="square" anchor="t" lIns="0" rIns="0" tIns="0" bIns="0">
            <a:noAutofit/>
          </a:bodyPr>
          <a:lstStyle/>
          <a:p>
            <a:pPr algn="l">
              <a:lnSpc>
                <a:spcPct val="120000"/>
              </a:lnSpc>
            </a:pPr>
            <a:r>
              <a:rPr sz="675" b="0" i="0" spc="120">
                <a:solidFill>
                  <a:srgbClr val="64675E"/>
                </a:solidFill>
                <a:latin typeface="Arial"/>
              </a:rPr>
              <a:t>CMZ / PHASE 2</a:t>
            </a:r>
          </a:p>
        </p:txBody>
      </p:sp>
      <p:sp>
        <p:nvSpPr>
          <p:cNvPr id="7" name="TextBox 6"/>
          <p:cNvSpPr txBox="1"/>
          <p:nvPr/>
        </p:nvSpPr>
        <p:spPr>
          <a:xfrm>
            <a:off x="10058400" y="6572250"/>
            <a:ext cx="1524000" cy="133350"/>
          </a:xfrm>
          <a:prstGeom prst="rect">
            <a:avLst/>
          </a:prstGeom>
          <a:noFill/>
        </p:spPr>
        <p:txBody>
          <a:bodyPr wrap="square" anchor="t" lIns="0" rIns="0" tIns="0" bIns="0">
            <a:noAutofit/>
          </a:bodyPr>
          <a:lstStyle/>
          <a:p>
            <a:pPr algn="r">
              <a:lnSpc>
                <a:spcPct val="120000"/>
              </a:lnSpc>
            </a:pPr>
            <a:r>
              <a:rPr sz="675" b="0" i="0" spc="120">
                <a:solidFill>
                  <a:srgbClr val="64675E"/>
                </a:solidFill>
                <a:latin typeface="Arial"/>
              </a:rPr>
              <a:t>10 / 10</a:t>
            </a:r>
          </a:p>
        </p:txBody>
      </p:sp>
      <p:sp>
        <p:nvSpPr>
          <p:cNvPr id="8" name="TextBox 7"/>
          <p:cNvSpPr txBox="1"/>
          <p:nvPr/>
        </p:nvSpPr>
        <p:spPr>
          <a:xfrm>
            <a:off x="609600" y="1028700"/>
            <a:ext cx="8572500" cy="209550"/>
          </a:xfrm>
          <a:prstGeom prst="rect">
            <a:avLst/>
          </a:prstGeom>
          <a:noFill/>
        </p:spPr>
        <p:txBody>
          <a:bodyPr wrap="square" anchor="t" lIns="0" rIns="0" tIns="0" bIns="0">
            <a:noAutofit/>
          </a:bodyPr>
          <a:lstStyle/>
          <a:p>
            <a:pPr algn="l">
              <a:lnSpc>
                <a:spcPct val="130000"/>
              </a:lnSpc>
            </a:pPr>
            <a:r>
              <a:rPr sz="900" b="0" i="0">
                <a:solidFill>
                  <a:srgbClr val="64675E"/>
                </a:solidFill>
                <a:latin typeface="Arial"/>
              </a:rPr>
              <a:t>Four changes that would turn these numbers into evidence.</a:t>
            </a:r>
          </a:p>
        </p:txBody>
      </p:sp>
      <p:sp>
        <p:nvSpPr>
          <p:cNvPr id="9" name="TextBox 8"/>
          <p:cNvSpPr txBox="1"/>
          <p:nvPr/>
        </p:nvSpPr>
        <p:spPr>
          <a:xfrm>
            <a:off x="609600" y="1447800"/>
            <a:ext cx="381000" cy="323850"/>
          </a:xfrm>
          <a:prstGeom prst="rect">
            <a:avLst/>
          </a:prstGeom>
          <a:noFill/>
        </p:spPr>
        <p:txBody>
          <a:bodyPr wrap="square" anchor="t" lIns="0" rIns="0" tIns="0" bIns="0">
            <a:noAutofit/>
          </a:bodyPr>
          <a:lstStyle/>
          <a:p>
            <a:pPr algn="l">
              <a:lnSpc>
                <a:spcPct val="120000"/>
              </a:lnSpc>
            </a:pPr>
            <a:r>
              <a:rPr sz="1950" b="0" i="0">
                <a:solidFill>
                  <a:srgbClr val="87966F"/>
                </a:solidFill>
                <a:latin typeface="Georgia"/>
              </a:rPr>
              <a:t>01</a:t>
            </a:r>
          </a:p>
        </p:txBody>
      </p:sp>
      <p:sp>
        <p:nvSpPr>
          <p:cNvPr id="10" name="TextBox 9"/>
          <p:cNvSpPr txBox="1"/>
          <p:nvPr/>
        </p:nvSpPr>
        <p:spPr>
          <a:xfrm>
            <a:off x="1104900" y="1485900"/>
            <a:ext cx="4381500" cy="247650"/>
          </a:xfrm>
          <a:prstGeom prst="rect">
            <a:avLst/>
          </a:prstGeom>
          <a:noFill/>
        </p:spPr>
        <p:txBody>
          <a:bodyPr wrap="square" anchor="t" lIns="0" rIns="0" tIns="0" bIns="0">
            <a:noAutofit/>
          </a:bodyPr>
          <a:lstStyle/>
          <a:p>
            <a:pPr algn="l">
              <a:lnSpc>
                <a:spcPct val="120000"/>
              </a:lnSpc>
            </a:pPr>
            <a:r>
              <a:rPr sz="1275" b="0" i="0">
                <a:solidFill>
                  <a:srgbClr val="284236"/>
                </a:solidFill>
                <a:latin typeface="Georgia"/>
              </a:rPr>
              <a:t>Hold out a recording group</a:t>
            </a:r>
          </a:p>
        </p:txBody>
      </p:sp>
      <p:sp>
        <p:nvSpPr>
          <p:cNvPr id="11" name="TextBox 10"/>
          <p:cNvSpPr txBox="1"/>
          <p:nvPr/>
        </p:nvSpPr>
        <p:spPr>
          <a:xfrm>
            <a:off x="1104900" y="1790700"/>
            <a:ext cx="4476750" cy="5715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Collect footage from sessions absent from training and repeat the evaluation, so the upper bound becomes an estimate.</a:t>
            </a:r>
          </a:p>
        </p:txBody>
      </p:sp>
      <p:sp>
        <p:nvSpPr>
          <p:cNvPr id="12" name="TextBox 11"/>
          <p:cNvSpPr txBox="1"/>
          <p:nvPr/>
        </p:nvSpPr>
        <p:spPr>
          <a:xfrm>
            <a:off x="6248400" y="1447800"/>
            <a:ext cx="381000" cy="323850"/>
          </a:xfrm>
          <a:prstGeom prst="rect">
            <a:avLst/>
          </a:prstGeom>
          <a:noFill/>
        </p:spPr>
        <p:txBody>
          <a:bodyPr wrap="square" anchor="t" lIns="0" rIns="0" tIns="0" bIns="0">
            <a:noAutofit/>
          </a:bodyPr>
          <a:lstStyle/>
          <a:p>
            <a:pPr algn="l">
              <a:lnSpc>
                <a:spcPct val="120000"/>
              </a:lnSpc>
            </a:pPr>
            <a:r>
              <a:rPr sz="1950" b="0" i="0">
                <a:solidFill>
                  <a:srgbClr val="87966F"/>
                </a:solidFill>
                <a:latin typeface="Georgia"/>
              </a:rPr>
              <a:t>02</a:t>
            </a:r>
          </a:p>
        </p:txBody>
      </p:sp>
      <p:sp>
        <p:nvSpPr>
          <p:cNvPr id="13" name="TextBox 12"/>
          <p:cNvSpPr txBox="1"/>
          <p:nvPr/>
        </p:nvSpPr>
        <p:spPr>
          <a:xfrm>
            <a:off x="6743700" y="1485900"/>
            <a:ext cx="4381500" cy="247650"/>
          </a:xfrm>
          <a:prstGeom prst="rect">
            <a:avLst/>
          </a:prstGeom>
          <a:noFill/>
        </p:spPr>
        <p:txBody>
          <a:bodyPr wrap="square" anchor="t" lIns="0" rIns="0" tIns="0" bIns="0">
            <a:noAutofit/>
          </a:bodyPr>
          <a:lstStyle/>
          <a:p>
            <a:pPr algn="l">
              <a:lnSpc>
                <a:spcPct val="120000"/>
              </a:lnSpc>
            </a:pPr>
            <a:r>
              <a:rPr sz="1275" b="0" i="0">
                <a:solidFill>
                  <a:srgbClr val="284236"/>
                </a:solidFill>
                <a:latin typeface="Georgia"/>
              </a:rPr>
              <a:t>Widen per-class support</a:t>
            </a:r>
          </a:p>
        </p:txBody>
      </p:sp>
      <p:sp>
        <p:nvSpPr>
          <p:cNvPr id="14" name="TextBox 13"/>
          <p:cNvSpPr txBox="1"/>
          <p:nvPr/>
        </p:nvSpPr>
        <p:spPr>
          <a:xfrm>
            <a:off x="6743700" y="1790700"/>
            <a:ext cx="4476750" cy="5715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Add Locomotion and Resting test clips from more than one clip per class before reading per-class differences.</a:t>
            </a:r>
          </a:p>
        </p:txBody>
      </p:sp>
      <p:sp>
        <p:nvSpPr>
          <p:cNvPr id="15" name="TextBox 14"/>
          <p:cNvSpPr txBox="1"/>
          <p:nvPr/>
        </p:nvSpPr>
        <p:spPr>
          <a:xfrm>
            <a:off x="609600" y="3048000"/>
            <a:ext cx="381000" cy="323850"/>
          </a:xfrm>
          <a:prstGeom prst="rect">
            <a:avLst/>
          </a:prstGeom>
          <a:noFill/>
        </p:spPr>
        <p:txBody>
          <a:bodyPr wrap="square" anchor="t" lIns="0" rIns="0" tIns="0" bIns="0">
            <a:noAutofit/>
          </a:bodyPr>
          <a:lstStyle/>
          <a:p>
            <a:pPr algn="l">
              <a:lnSpc>
                <a:spcPct val="120000"/>
              </a:lnSpc>
            </a:pPr>
            <a:r>
              <a:rPr sz="1950" b="0" i="0">
                <a:solidFill>
                  <a:srgbClr val="87966F"/>
                </a:solidFill>
                <a:latin typeface="Georgia"/>
              </a:rPr>
              <a:t>03</a:t>
            </a:r>
          </a:p>
        </p:txBody>
      </p:sp>
      <p:sp>
        <p:nvSpPr>
          <p:cNvPr id="16" name="TextBox 15"/>
          <p:cNvSpPr txBox="1"/>
          <p:nvPr/>
        </p:nvSpPr>
        <p:spPr>
          <a:xfrm>
            <a:off x="1104900" y="3086100"/>
            <a:ext cx="4381500" cy="247650"/>
          </a:xfrm>
          <a:prstGeom prst="rect">
            <a:avLst/>
          </a:prstGeom>
          <a:noFill/>
        </p:spPr>
        <p:txBody>
          <a:bodyPr wrap="square" anchor="t" lIns="0" rIns="0" tIns="0" bIns="0">
            <a:noAutofit/>
          </a:bodyPr>
          <a:lstStyle/>
          <a:p>
            <a:pPr algn="l">
              <a:lnSpc>
                <a:spcPct val="120000"/>
              </a:lnSpc>
            </a:pPr>
            <a:r>
              <a:rPr sz="1275" b="0" i="0">
                <a:solidFill>
                  <a:srgbClr val="284236"/>
                </a:solidFill>
                <a:latin typeface="Georgia"/>
              </a:rPr>
              <a:t>Calibrate abstention</a:t>
            </a:r>
          </a:p>
        </p:txBody>
      </p:sp>
      <p:sp>
        <p:nvSpPr>
          <p:cNvPr id="17" name="TextBox 16"/>
          <p:cNvSpPr txBox="1"/>
          <p:nvPr/>
        </p:nvSpPr>
        <p:spPr>
          <a:xfrm>
            <a:off x="1104900" y="3390900"/>
            <a:ext cx="4476750" cy="5715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Choose the abstain threshold on a larger validation set or a separate calibration set, never on the test windows.</a:t>
            </a:r>
          </a:p>
        </p:txBody>
      </p:sp>
      <p:sp>
        <p:nvSpPr>
          <p:cNvPr id="18" name="TextBox 17"/>
          <p:cNvSpPr txBox="1"/>
          <p:nvPr/>
        </p:nvSpPr>
        <p:spPr>
          <a:xfrm>
            <a:off x="6248400" y="3048000"/>
            <a:ext cx="381000" cy="323850"/>
          </a:xfrm>
          <a:prstGeom prst="rect">
            <a:avLst/>
          </a:prstGeom>
          <a:noFill/>
        </p:spPr>
        <p:txBody>
          <a:bodyPr wrap="square" anchor="t" lIns="0" rIns="0" tIns="0" bIns="0">
            <a:noAutofit/>
          </a:bodyPr>
          <a:lstStyle/>
          <a:p>
            <a:pPr algn="l">
              <a:lnSpc>
                <a:spcPct val="120000"/>
              </a:lnSpc>
            </a:pPr>
            <a:r>
              <a:rPr sz="1950" b="0" i="0">
                <a:solidFill>
                  <a:srgbClr val="87966F"/>
                </a:solidFill>
                <a:latin typeface="Georgia"/>
              </a:rPr>
              <a:t>04</a:t>
            </a:r>
          </a:p>
        </p:txBody>
      </p:sp>
      <p:sp>
        <p:nvSpPr>
          <p:cNvPr id="19" name="TextBox 18"/>
          <p:cNvSpPr txBox="1"/>
          <p:nvPr/>
        </p:nvSpPr>
        <p:spPr>
          <a:xfrm>
            <a:off x="6743700" y="3086100"/>
            <a:ext cx="4381500" cy="247650"/>
          </a:xfrm>
          <a:prstGeom prst="rect">
            <a:avLst/>
          </a:prstGeom>
          <a:noFill/>
        </p:spPr>
        <p:txBody>
          <a:bodyPr wrap="square" anchor="t" lIns="0" rIns="0" tIns="0" bIns="0">
            <a:noAutofit/>
          </a:bodyPr>
          <a:lstStyle/>
          <a:p>
            <a:pPr algn="l">
              <a:lnSpc>
                <a:spcPct val="120000"/>
              </a:lnSpc>
            </a:pPr>
            <a:r>
              <a:rPr sz="1275" b="0" i="0">
                <a:solidFill>
                  <a:srgbClr val="284236"/>
                </a:solidFill>
                <a:latin typeface="Georgia"/>
              </a:rPr>
              <a:t>Revisit Climbing and pose</a:t>
            </a:r>
          </a:p>
        </p:txBody>
      </p:sp>
      <p:sp>
        <p:nvSpPr>
          <p:cNvPr id="20" name="TextBox 19"/>
          <p:cNvSpPr txBox="1"/>
          <p:nvPr/>
        </p:nvSpPr>
        <p:spPr>
          <a:xfrm>
            <a:off x="6743700" y="3390900"/>
            <a:ext cx="4476750" cy="571500"/>
          </a:xfrm>
          <a:prstGeom prst="rect">
            <a:avLst/>
          </a:prstGeom>
          <a:noFill/>
        </p:spPr>
        <p:txBody>
          <a:bodyPr wrap="square" anchor="t" lIns="0" rIns="0" tIns="0" bIns="0">
            <a:noAutofit/>
          </a:bodyPr>
          <a:lstStyle/>
          <a:p>
            <a:pPr algn="l">
              <a:lnSpc>
                <a:spcPct val="135000"/>
              </a:lnSpc>
            </a:pPr>
            <a:r>
              <a:rPr sz="825" b="0" i="0">
                <a:solidFill>
                  <a:srgbClr val="22241F"/>
                </a:solidFill>
                <a:latin typeface="Arial"/>
              </a:rPr>
              <a:t>Only if verified footage and keypoint labels exist. Until then, three classes and silhouette features are the scope.</a:t>
            </a:r>
          </a:p>
        </p:txBody>
      </p:sp>
      <p:sp>
        <p:nvSpPr>
          <p:cNvPr id="21" name="Rectangle 20"/>
          <p:cNvSpPr/>
          <p:nvPr/>
        </p:nvSpPr>
        <p:spPr>
          <a:xfrm>
            <a:off x="609600" y="4876800"/>
            <a:ext cx="10972800" cy="19050"/>
          </a:xfrm>
          <a:prstGeom prst="rect">
            <a:avLst/>
          </a:prstGeom>
          <a:solidFill>
            <a:srgbClr val="C45A3B"/>
          </a:solidFill>
          <a:ln>
            <a:noFill/>
          </a:ln>
          <a:effectLst/>
        </p:spPr>
        <p:txBody>
          <a:bodyPr rtlCol="0" anchor="ctr"/>
          <a:lstStyle/>
          <a:p>
            <a:pPr algn="ctr"/>
          </a:p>
        </p:txBody>
      </p:sp>
      <p:sp>
        <p:nvSpPr>
          <p:cNvPr id="22" name="TextBox 21"/>
          <p:cNvSpPr txBox="1"/>
          <p:nvPr/>
        </p:nvSpPr>
        <p:spPr>
          <a:xfrm>
            <a:off x="609600" y="5086350"/>
            <a:ext cx="10287000" cy="762000"/>
          </a:xfrm>
          <a:prstGeom prst="rect">
            <a:avLst/>
          </a:prstGeom>
          <a:noFill/>
        </p:spPr>
        <p:txBody>
          <a:bodyPr wrap="square" anchor="t" lIns="0" rIns="0" tIns="0" bIns="0">
            <a:noAutofit/>
          </a:bodyPr>
          <a:lstStyle/>
          <a:p>
            <a:pPr algn="l">
              <a:lnSpc>
                <a:spcPct val="120000"/>
              </a:lnSpc>
            </a:pPr>
            <a:r>
              <a:rPr sz="1800" b="0" i="0">
                <a:solidFill>
                  <a:srgbClr val="284236"/>
                </a:solidFill>
                <a:latin typeface="Georgia"/>
              </a:rPr>
              <a:t>A reproducible baseline that states what it measured and what it did 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Tasks, One Animal, One Pipeline</dc:title>
  <dc:subject>CMZ project, Phase 2 presentation</dc:subject>
  <dc:creator>Project team, CMU</dc:creator>
  <cp:keywords/>
  <dc:description>Generated by scripts/make_deck.py</dc:description>
  <cp:lastModifiedBy>Steve Canny</cp:lastModifiedBy>
  <cp:revision>1</cp:revision>
  <dcterms:created xsi:type="dcterms:W3CDTF">2013-01-27T09:14:16Z</dcterms:created>
  <dcterms:modified xsi:type="dcterms:W3CDTF">2013-01-27T09:15:58Z</dcterms:modified>
  <cp:category/>
</cp:coreProperties>
</file>